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8" r:id="rId9"/>
    <p:sldId id="271" r:id="rId10"/>
    <p:sldId id="272" r:id="rId11"/>
    <p:sldId id="262" r:id="rId12"/>
    <p:sldId id="263" r:id="rId13"/>
    <p:sldId id="277" r:id="rId15"/>
    <p:sldId id="278" r:id="rId16"/>
    <p:sldId id="264" r:id="rId17"/>
    <p:sldId id="265" r:id="rId18"/>
    <p:sldId id="274" r:id="rId19"/>
    <p:sldId id="266" r:id="rId20"/>
    <p:sldId id="267" r:id="rId21"/>
    <p:sldId id="275" r:id="rId22"/>
    <p:sldId id="273" r:id="rId23"/>
    <p:sldId id="27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3375" y="281623"/>
            <a:ext cx="9144000" cy="2387600"/>
          </a:xfrm>
        </p:spPr>
        <p:txBody>
          <a:bodyPr/>
          <a:p>
            <a:r>
              <a:rPr lang="en-US" altLang="zh-CN"/>
              <a:t>Segment Anything Model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51798"/>
            <a:ext cx="9144000" cy="1655762"/>
          </a:xfrm>
        </p:spPr>
        <p:txBody>
          <a:bodyPr/>
          <a:p>
            <a:r>
              <a:rPr lang="en-US" altLang="zh-CN"/>
              <a:t>2026.1.5-1.11</a:t>
            </a:r>
            <a:endParaRPr lang="en-US" altLang="zh-CN"/>
          </a:p>
          <a:p>
            <a:r>
              <a:rPr lang="zh-CN" altLang="en-US"/>
              <a:t>周报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7845" y="4244340"/>
            <a:ext cx="8735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论文原文地址：</a:t>
            </a:r>
            <a:r>
              <a:rPr lang="en-US" altLang="zh-CN"/>
              <a:t>https://arxiv.org/pdf/2304.02643</a:t>
            </a:r>
            <a:endParaRPr lang="en-US" altLang="zh-CN"/>
          </a:p>
          <a:p>
            <a:r>
              <a:rPr lang="zh-CN" altLang="en-US"/>
              <a:t>论文项目</a:t>
            </a:r>
            <a:r>
              <a:rPr lang="en-US" altLang="zh-CN"/>
              <a:t>github</a:t>
            </a:r>
            <a:r>
              <a:rPr lang="zh-CN" altLang="en-US"/>
              <a:t>地址：</a:t>
            </a:r>
            <a:r>
              <a:rPr lang="en-US" altLang="zh-CN"/>
              <a:t>https://github.com/facebookresearch/segment-anything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60730" y="6073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模型部署笔记代码在个人</a:t>
            </a:r>
            <a:r>
              <a:rPr lang="en-US" altLang="zh-CN"/>
              <a:t>github</a:t>
            </a:r>
            <a:r>
              <a:rPr lang="zh-CN" altLang="en-US"/>
              <a:t>仓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摘要概括版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8590"/>
            <a:ext cx="10515600" cy="3465830"/>
          </a:xfrm>
        </p:spPr>
        <p:txBody>
          <a:bodyPr>
            <a:normAutofit lnSpcReduction="10000"/>
          </a:bodyPr>
          <a:p>
            <a:r>
              <a:rPr lang="zh-CN" altLang="en-US"/>
              <a:t>提出：</a:t>
            </a:r>
            <a:r>
              <a:rPr lang="en-US" altLang="zh-CN"/>
              <a:t>Segment Anything (SA) </a:t>
            </a:r>
            <a:r>
              <a:rPr lang="zh-CN" altLang="en-US"/>
              <a:t>项目，一个用于图像分割的新任务、模型和数据集。</a:t>
            </a:r>
            <a:endParaRPr lang="zh-CN" altLang="en-US"/>
          </a:p>
          <a:p>
            <a:r>
              <a:rPr lang="zh-CN" altLang="en-US"/>
              <a:t>优势：</a:t>
            </a:r>
            <a:r>
              <a:rPr lang="en-US" altLang="zh-CN"/>
              <a:t>1</a:t>
            </a:r>
            <a:r>
              <a:rPr lang="zh-CN" altLang="en-US"/>
              <a:t>、建立至今</a:t>
            </a:r>
            <a:r>
              <a:rPr lang="zh-CN" altLang="en-US">
                <a:sym typeface="+mn-ea"/>
              </a:rPr>
              <a:t>最大的分割数据集</a:t>
            </a:r>
            <a:r>
              <a:rPr lang="en-US" altLang="zh-CN">
                <a:sym typeface="+mn-ea"/>
              </a:rPr>
              <a:t>--</a:t>
            </a:r>
            <a:r>
              <a:rPr lang="zh-CN" altLang="en-US">
                <a:sym typeface="+mn-ea"/>
              </a:rPr>
              <a:t>包含</a:t>
            </a:r>
            <a:r>
              <a:rPr lang="en-US" altLang="zh-CN">
                <a:sym typeface="+mn-ea"/>
              </a:rPr>
              <a:t> 1100 </a:t>
            </a:r>
            <a:r>
              <a:rPr lang="zh-CN" altLang="en-US">
                <a:sym typeface="+mn-ea"/>
              </a:rPr>
              <a:t>万张授权图像和</a:t>
            </a:r>
            <a:r>
              <a:rPr lang="en-US" altLang="zh-CN">
                <a:sym typeface="+mn-ea"/>
              </a:rPr>
              <a:t> 10 </a:t>
            </a:r>
            <a:r>
              <a:rPr lang="zh-CN" altLang="en-US">
                <a:sym typeface="+mn-ea"/>
              </a:rPr>
              <a:t>亿多个掩码，</a:t>
            </a:r>
            <a:r>
              <a:rPr lang="zh-CN" altLang="en-US"/>
              <a:t>通过在数据收集循环中使用模型实现。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、该模型的设计和训练具有可提示性，因此它可以在新的图像分布和任务中进行零转移。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、在大量任务中评估了它的能力，发现它的零样本迁移可与之前的完全监督结果相媲美，甚至更胜一筹。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7580" y="4822825"/>
            <a:ext cx="10276840" cy="1670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sym typeface="+mn-ea"/>
              </a:rPr>
              <a:t>          </a:t>
            </a:r>
            <a:r>
              <a:rPr lang="zh-CN" altLang="en-US" sz="2800">
                <a:sym typeface="+mn-ea"/>
              </a:rPr>
              <a:t>产出：在</a:t>
            </a:r>
            <a:r>
              <a:rPr lang="en-US" altLang="zh-CN" sz="2800">
                <a:sym typeface="+mn-ea"/>
              </a:rPr>
              <a:t> Segment Anything </a:t>
            </a:r>
            <a:r>
              <a:rPr lang="zh-CN" altLang="en-US" sz="2800">
                <a:sym typeface="+mn-ea"/>
              </a:rPr>
              <a:t>上发布了</a:t>
            </a:r>
            <a:r>
              <a:rPr lang="en-US" altLang="zh-CN" sz="2800">
                <a:sym typeface="+mn-ea"/>
              </a:rPr>
              <a:t> Segment Anything Model</a:t>
            </a:r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SAM</a:t>
            </a:r>
            <a:r>
              <a:rPr lang="zh-CN" altLang="en-US" sz="2800">
                <a:sym typeface="+mn-ea"/>
              </a:rPr>
              <a:t>）和相应的数据集（</a:t>
            </a:r>
            <a:r>
              <a:rPr lang="en-US" altLang="zh-CN" sz="2800">
                <a:sym typeface="+mn-ea"/>
              </a:rPr>
              <a:t>SA-1B</a:t>
            </a:r>
            <a:r>
              <a:rPr lang="zh-CN" altLang="en-US" sz="2800">
                <a:sym typeface="+mn-ea"/>
              </a:rPr>
              <a:t>），其中包括</a:t>
            </a:r>
            <a:r>
              <a:rPr lang="en-US" altLang="zh-CN" sz="2800">
                <a:sym typeface="+mn-ea"/>
              </a:rPr>
              <a:t> 1B </a:t>
            </a:r>
            <a:r>
              <a:rPr lang="zh-CN" altLang="en-US" sz="2800">
                <a:sym typeface="+mn-ea"/>
              </a:rPr>
              <a:t>个</a:t>
            </a:r>
            <a:r>
              <a:rPr lang="en-US" altLang="zh-CN" sz="2800">
                <a:sym typeface="+mn-ea"/>
              </a:rPr>
              <a:t>mask</a:t>
            </a:r>
            <a:r>
              <a:rPr lang="zh-CN" altLang="en-US" sz="2800">
                <a:sym typeface="+mn-ea"/>
              </a:rPr>
              <a:t>和</a:t>
            </a:r>
            <a:r>
              <a:rPr lang="en-US" altLang="zh-CN" sz="2800">
                <a:sym typeface="+mn-ea"/>
              </a:rPr>
              <a:t> 1,100 </a:t>
            </a:r>
            <a:r>
              <a:rPr lang="zh-CN" altLang="en-US" sz="2800">
                <a:sym typeface="+mn-ea"/>
              </a:rPr>
              <a:t>万张图像。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论文核心贡献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2900"/>
            <a:ext cx="10515600" cy="4351338"/>
          </a:xfrm>
        </p:spPr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、任务创新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、模型创新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、数据创新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3274695"/>
            <a:ext cx="11517630" cy="3058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400" y="2343785"/>
            <a:ext cx="4941570" cy="43770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、任务创新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4795"/>
            <a:ext cx="10754360" cy="1677670"/>
          </a:xfrm>
        </p:spPr>
        <p:txBody>
          <a:bodyPr>
            <a:normAutofit lnSpcReduction="10000"/>
          </a:bodyPr>
          <a:p>
            <a:r>
              <a:rPr lang="zh-CN" altLang="en-US">
                <a:sym typeface="+mn-ea"/>
              </a:rPr>
              <a:t>迁移</a:t>
            </a:r>
            <a:r>
              <a:rPr lang="en-US" altLang="zh-CN">
                <a:sym typeface="+mn-ea"/>
              </a:rPr>
              <a:t>NLP </a:t>
            </a:r>
            <a:r>
              <a:rPr lang="zh-CN" altLang="en-US">
                <a:sym typeface="+mn-ea"/>
              </a:rPr>
              <a:t>中用到的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提示</a:t>
            </a:r>
            <a:r>
              <a:rPr lang="en-US" altLang="zh-CN">
                <a:sym typeface="+mn-ea"/>
              </a:rPr>
              <a:t> "</a:t>
            </a:r>
            <a:r>
              <a:rPr lang="zh-CN" altLang="en-US">
                <a:sym typeface="+mn-ea"/>
              </a:rPr>
              <a:t>技术</a:t>
            </a:r>
            <a:r>
              <a:rPr lang="zh-CN" altLang="en-US">
                <a:sym typeface="+mn-ea"/>
              </a:rPr>
              <a:t>，将它加入到计算机视觉领域，建立计算机视觉领域的基础模型，同样通过使用</a:t>
            </a:r>
            <a:r>
              <a:rPr lang="en-US" altLang="zh-CN">
                <a:sym typeface="+mn-ea"/>
              </a:rPr>
              <a:t> "</a:t>
            </a:r>
            <a:r>
              <a:rPr lang="zh-CN" altLang="en-US">
                <a:sym typeface="+mn-ea"/>
              </a:rPr>
              <a:t>提示</a:t>
            </a:r>
            <a:r>
              <a:rPr lang="en-US" altLang="zh-CN">
                <a:sym typeface="+mn-ea"/>
              </a:rPr>
              <a:t> "</a:t>
            </a:r>
            <a:r>
              <a:rPr lang="zh-CN" altLang="en-US">
                <a:sym typeface="+mn-ea"/>
              </a:rPr>
              <a:t>技术，对新数据集和任务进行</a:t>
            </a:r>
            <a:r>
              <a:rPr lang="en-US" altLang="zh-CN">
                <a:sym typeface="+mn-ea"/>
              </a:rPr>
              <a:t> zero-shot</a:t>
            </a:r>
            <a:r>
              <a:rPr lang="zh-CN" altLang="en-US">
                <a:sym typeface="+mn-ea"/>
              </a:rPr>
              <a:t>（零样本）或</a:t>
            </a:r>
            <a:r>
              <a:rPr lang="en-US" altLang="zh-CN">
                <a:sym typeface="+mn-ea"/>
              </a:rPr>
              <a:t> few-shot</a:t>
            </a:r>
            <a:r>
              <a:rPr lang="zh-CN" altLang="en-US">
                <a:sym typeface="+mn-ea"/>
              </a:rPr>
              <a:t>学习。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8530" y="3097530"/>
            <a:ext cx="5281930" cy="3315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sym typeface="+mn-ea"/>
              </a:rPr>
              <a:t>         </a:t>
            </a:r>
            <a:r>
              <a:rPr lang="zh-CN" altLang="en-US" sz="2000">
                <a:sym typeface="+mn-ea"/>
              </a:rPr>
              <a:t>该论文提出了可提示分割任务，其目标是在给出任何</a:t>
            </a:r>
            <a:r>
              <a:rPr lang="zh-CN" altLang="en-US" sz="2000" b="1">
                <a:sym typeface="+mn-ea"/>
              </a:rPr>
              <a:t>分割提示</a:t>
            </a:r>
            <a:r>
              <a:rPr lang="zh-CN" altLang="en-US" sz="2000">
                <a:sym typeface="+mn-ea"/>
              </a:rPr>
              <a:t>的情况下返回</a:t>
            </a:r>
            <a:r>
              <a:rPr lang="zh-CN" altLang="en-US" sz="2000" b="1">
                <a:sym typeface="+mn-ea"/>
              </a:rPr>
              <a:t>有效的</a:t>
            </a:r>
            <a:r>
              <a:rPr lang="zh-CN" altLang="en-US" sz="2000">
                <a:sym typeface="+mn-ea"/>
              </a:rPr>
              <a:t>分割掩码。解读这句话：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、提示只需指定图像中要分割的内容，例如，提示可以包括识别物体的空间或文本信息。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、对有效输出掩码的要求意味着，即使提示模棱两可，可能指向多个对象（例如，衬衫上的一个点既可能指向衬衫，也可能指向穿着衬衫的人），输出也应至少是其中一个对象的合理掩码。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405" y="2651760"/>
            <a:ext cx="4608830" cy="38823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、模型创新（本部分创新较少）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9710"/>
            <a:ext cx="10515600" cy="2277110"/>
          </a:xfrm>
        </p:spPr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、一个图像编码器计算图像嵌入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、一个提示编码器嵌入提示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、结合这两个信息源结合到一个轻量级掩码解码器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1660" y="3535680"/>
            <a:ext cx="6099810" cy="2698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sym typeface="+mn-ea"/>
              </a:rPr>
              <a:t>         </a:t>
            </a:r>
            <a:r>
              <a:rPr lang="zh-CN" altLang="en-US" sz="2000">
                <a:sym typeface="+mn-ea"/>
              </a:rPr>
              <a:t>相同的图像嵌入可以和不同的提示组合使用（并摊销其成本）。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给定图像嵌入后，提示编码器和掩码解码器可以在网络浏览器中根据提示在</a:t>
            </a:r>
            <a:r>
              <a:rPr lang="en-US" altLang="zh-CN" sz="2000">
                <a:sym typeface="+mn-ea"/>
              </a:rPr>
              <a:t> 50ms </a:t>
            </a:r>
            <a:r>
              <a:rPr lang="zh-CN" altLang="en-US" sz="2000">
                <a:sym typeface="+mn-ea"/>
              </a:rPr>
              <a:t>内预测出掩码。该论文的提示包括点、方框和</a:t>
            </a:r>
            <a:r>
              <a:rPr lang="en-US" altLang="zh-CN" sz="2000">
                <a:sym typeface="+mn-ea"/>
              </a:rPr>
              <a:t>mask</a:t>
            </a:r>
            <a:r>
              <a:rPr lang="zh-CN" altLang="en-US" sz="2000">
                <a:sym typeface="+mn-ea"/>
              </a:rPr>
              <a:t>掩码提示，同时也展示了自由格式文本提示的初步结果。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        SAM </a:t>
            </a:r>
            <a:r>
              <a:rPr lang="zh-CN" altLang="en-US" sz="2000">
                <a:sym typeface="+mn-ea"/>
              </a:rPr>
              <a:t>具有歧义感知能力，通过设计单个提示对应多个掩码的组合，使</a:t>
            </a:r>
            <a:r>
              <a:rPr lang="en-US" altLang="zh-CN" sz="2000">
                <a:sym typeface="+mn-ea"/>
              </a:rPr>
              <a:t> SAM </a:t>
            </a:r>
            <a:r>
              <a:rPr lang="zh-CN" altLang="en-US" sz="2000">
                <a:sym typeface="+mn-ea"/>
              </a:rPr>
              <a:t>能够自然地处理歧义，例如衬衫与人的例子。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285" y="1395730"/>
            <a:ext cx="5438140" cy="42957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、数据创新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585" y="1559560"/>
            <a:ext cx="6350000" cy="5027930"/>
          </a:xfrm>
        </p:spPr>
        <p:txBody>
          <a:bodyPr>
            <a:normAutofit/>
          </a:bodyPr>
          <a:p>
            <a:r>
              <a:rPr lang="zh-CN" altLang="en-US"/>
              <a:t>数据引擎</a:t>
            </a:r>
            <a:r>
              <a:rPr lang="en-US" altLang="zh-CN"/>
              <a:t>:</a:t>
            </a:r>
            <a:r>
              <a:rPr lang="zh-CN" altLang="en-US"/>
              <a:t>通过模型在循环数据集注释。</a:t>
            </a:r>
            <a:endParaRPr lang="zh-CN" altLang="en-US"/>
          </a:p>
          <a:p>
            <a:r>
              <a:rPr lang="zh-CN" altLang="en-US"/>
              <a:t>分为三个阶段：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、辅助手动：</a:t>
            </a:r>
            <a:r>
              <a:rPr lang="en-US" altLang="zh-CN">
                <a:sym typeface="+mn-ea"/>
              </a:rPr>
              <a:t>SAM </a:t>
            </a:r>
            <a:r>
              <a:rPr lang="zh-CN" altLang="en-US">
                <a:sym typeface="+mn-ea"/>
              </a:rPr>
              <a:t>协助注释者注释掩码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、半自动：</a:t>
            </a:r>
            <a:r>
              <a:rPr lang="en-US" altLang="zh-CN"/>
              <a:t>SAM </a:t>
            </a:r>
            <a:r>
              <a:rPr lang="zh-CN" altLang="en-US"/>
              <a:t>可以通过提示可能的对象位置来自动生成对象子集的</a:t>
            </a:r>
            <a:r>
              <a:rPr lang="en-US" altLang="zh-CN"/>
              <a:t>mask</a:t>
            </a:r>
            <a:r>
              <a:rPr lang="zh-CN" altLang="en-US"/>
              <a:t>，而注释者则专注于注释其余的对象，这有助于提高</a:t>
            </a:r>
            <a:r>
              <a:rPr lang="en-US" altLang="zh-CN"/>
              <a:t>mask</a:t>
            </a:r>
            <a:r>
              <a:rPr lang="zh-CN" altLang="en-US"/>
              <a:t>的多样性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、全自动：向</a:t>
            </a:r>
            <a:r>
              <a:rPr lang="en-US" altLang="zh-CN"/>
              <a:t> SAM </a:t>
            </a:r>
            <a:r>
              <a:rPr lang="zh-CN" altLang="en-US"/>
              <a:t>提示前景点的规则网格，平均每幅图像可生成</a:t>
            </a:r>
            <a:r>
              <a:rPr lang="en-US" altLang="zh-CN"/>
              <a:t> 100 </a:t>
            </a:r>
            <a:r>
              <a:rPr lang="zh-CN" altLang="en-US"/>
              <a:t>个高质量的</a:t>
            </a:r>
            <a:r>
              <a:rPr lang="en-US" altLang="zh-CN"/>
              <a:t>mask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、数据创新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9560"/>
            <a:ext cx="10515600" cy="287845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分为三个阶段：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、模型辅助，人工标注阶段：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2686685"/>
            <a:ext cx="10614660" cy="38360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   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先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使用常见的公共分割数据集对 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SAM 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进行训练。再由注释人员使用基于浏览器的交互式分割工具，通过点击前景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/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背景对象点来标记掩码。此阶段的标注不加语义限制，标注者可以自由标注 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"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东西 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"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和 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"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事物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"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宋体" panose="02010600030101010101" pitchFamily="2" charset="-122"/>
                <a:sym typeface="+mn-ea"/>
              </a:rPr>
              <a:t>，但是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标注者一般标注的是可以命名或描述的对象，不收集这些名称或描述。并且标注者需要按照物体的突出顺序标注对象，并如果标注者标注一个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的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时间超过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30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秒后直接标注下一幅图像，不继续标注原来的图像。在人工标注后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，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使用新注释的掩码对</a:t>
            </a:r>
            <a:r>
              <a:rPr lang="en-US" altLang="zh-CN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SAM</a:t>
            </a:r>
            <a:r>
              <a:rPr lang="zh-CN" altLang="en-US" sz="20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进行重新训练。</a:t>
            </a:r>
            <a:endParaRPr lang="zh-CN" altLang="en-US" sz="2000" b="0" i="0">
              <a:solidFill>
                <a:srgbClr val="191B1F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   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这一阶段随着收集的掩码越来越多，图像编码器也从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ViT-B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升级到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ViT-H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，其他架构细节也在不断变化；总共对模型进行了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6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次重新训练（人工标，标完训，循环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6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次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）。随着模型的改进，每个掩码的平均标注时间从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34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秒减少到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14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秒。随着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SAM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的改进，每幅图像的平均掩码数量从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20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个增加到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44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个。总体而言，我们在这一阶段从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12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万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幅图像中收集了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430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万个掩码。</a:t>
            </a:r>
            <a:endParaRPr lang="zh-CN" altLang="en-US" sz="2000" b="0" i="0">
              <a:solidFill>
                <a:srgbClr val="191B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、数据创新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9560"/>
            <a:ext cx="10515600" cy="287845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分为三个阶段：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半自动：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2773045"/>
            <a:ext cx="10614660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    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这一阶段增加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的多样性。首先筛选出前一阶段检测出置信度很高的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要求他们注释任何其他未注释的物体，来提高模型对于图片中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不太突出的物体。为了检测有把握的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，我们使用通用的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"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物体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"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类别对所有第一阶段的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进行了边界框检测器训练。在这一阶段，我们又在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18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万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幅图像中收集了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590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万个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（共计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1020 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万个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）。与第一阶段一样，我们定期在新收集的数据上重新训练模型（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5 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次）。每个掩码的平均标注时间回升到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34 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秒（不包括自动掩码），因为这些对象的标注更具挑战性。每幅图像的平均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数从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44 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个增加到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 72 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个（包括自动</a:t>
            </a:r>
            <a:r>
              <a:rPr lang="en-US" altLang="zh-CN" sz="24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400" b="0" i="0">
                <a:solidFill>
                  <a:srgbClr val="191B1F"/>
                </a:solidFill>
                <a:latin typeface="-apple-system"/>
                <a:ea typeface="-apple-system"/>
              </a:rPr>
              <a:t>）。</a:t>
            </a:r>
            <a:endParaRPr lang="zh-CN" altLang="en-US" sz="2400" b="0" i="0">
              <a:solidFill>
                <a:srgbClr val="191B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、数据创新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9560"/>
            <a:ext cx="10515600" cy="287845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分为三个阶段：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全自动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2773045"/>
            <a:ext cx="10614660" cy="3220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   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在最后阶段，注释工作完全自动化。在这一阶段，模型在模棱两可的情况下，也能预测出有效的掩码。</a:t>
            </a:r>
            <a:endParaRPr lang="zh-CN" altLang="en-US" sz="2000" b="0" i="0">
              <a:solidFill>
                <a:srgbClr val="191B1F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 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  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</a:rPr>
              <a:t>过程包括，首先，将原始图片划分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32</a:t>
            </a:r>
            <a:r>
              <a:rPr lang="en-US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×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32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的规则点网格，并为每个点预测一组可能与有效对象相对应的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mask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。有了模糊感知模型，如果一个点位于一个部件或子部件上，模型就会返回</a:t>
            </a:r>
            <a:r>
              <a:rPr lang="zh-CN" altLang="en-US" sz="2000" b="0" i="0">
                <a:solidFill>
                  <a:srgbClr val="FF0000"/>
                </a:solidFill>
                <a:latin typeface="-apple-system"/>
                <a:ea typeface="-apple-system"/>
              </a:rPr>
              <a:t>子部件、部件和整个对象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。模型中的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IoU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预测模块用于选择有把握的掩码。第二，模型只识别和选择稳定的掩码（如果在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0.5 - δ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和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 0.5 + δ 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时对概率图进行阈值处理会得到相似的掩码，我们就认为该掩码是稳定的）。最后，在筛选出可信和稳定的掩码后，使用非最大抑制（</a:t>
            </a:r>
            <a:r>
              <a:rPr lang="en-US" altLang="zh-CN" sz="2000" b="0" i="0">
                <a:solidFill>
                  <a:srgbClr val="191B1F"/>
                </a:solidFill>
                <a:latin typeface="-apple-system"/>
                <a:ea typeface="-apple-system"/>
              </a:rPr>
              <a:t>NMS</a:t>
            </a:r>
            <a:r>
              <a:rPr lang="zh-CN" altLang="en-US" sz="2000" b="0" i="0">
                <a:solidFill>
                  <a:srgbClr val="191B1F"/>
                </a:solidFill>
                <a:latin typeface="-apple-system"/>
                <a:ea typeface="-apple-system"/>
              </a:rPr>
              <a:t>）来过滤重复的掩码。为了进一步提高较小掩码的质量，我们还处理了多个重叠的放大图像裁剪。</a:t>
            </a:r>
            <a:endParaRPr lang="zh-CN" altLang="en-US" sz="2000" b="0" i="0">
              <a:solidFill>
                <a:srgbClr val="191B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0" y="0"/>
            <a:ext cx="11699240" cy="26066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9560"/>
            <a:ext cx="10515600" cy="4806950"/>
          </a:xfrm>
        </p:spPr>
        <p:txBody>
          <a:bodyPr>
            <a:noAutofit/>
          </a:bodyPr>
          <a:p>
            <a:r>
              <a:rPr lang="en-US" altLang="zh-CN" sz="1800"/>
              <a:t>3.1.</a:t>
            </a:r>
            <a:r>
              <a:rPr lang="zh-CN" altLang="en-US" sz="1800">
                <a:sym typeface="+mn-ea"/>
              </a:rPr>
              <a:t>图像编码器（</a:t>
            </a:r>
            <a:r>
              <a:rPr lang="en-US" altLang="zh-CN" sz="1800">
                <a:sym typeface="+mn-ea"/>
              </a:rPr>
              <a:t>Image encoder</a:t>
            </a:r>
            <a:r>
              <a:rPr lang="zh-CN" altLang="en-US" sz="1800">
                <a:sym typeface="+mn-ea"/>
              </a:rPr>
              <a:t>）</a:t>
            </a:r>
            <a:endParaRPr lang="en-US" altLang="zh-CN" sz="1800"/>
          </a:p>
          <a:p>
            <a:r>
              <a:rPr lang="en-US" altLang="zh-CN" sz="1800">
                <a:solidFill>
                  <a:srgbClr val="FF0000"/>
                </a:solidFill>
              </a:rPr>
              <a:t>MAE</a:t>
            </a:r>
            <a:r>
              <a:rPr lang="zh-CN" altLang="en-US" sz="1800">
                <a:solidFill>
                  <a:srgbClr val="FF0000"/>
                </a:solidFill>
              </a:rPr>
              <a:t>预训练的视觉转换器（</a:t>
            </a:r>
            <a:r>
              <a:rPr lang="en-US" altLang="zh-CN" sz="1800">
                <a:solidFill>
                  <a:srgbClr val="FF0000"/>
                </a:solidFill>
              </a:rPr>
              <a:t>ViT</a:t>
            </a:r>
            <a:r>
              <a:rPr lang="zh-CN" altLang="en-US" sz="1800">
                <a:solidFill>
                  <a:srgbClr val="FF0000"/>
                </a:solidFill>
              </a:rPr>
              <a:t>）</a:t>
            </a:r>
            <a:r>
              <a:rPr lang="zh-CN" altLang="en-US" sz="1800"/>
              <a:t>，并对其进行了最小化调整，以处理高分辨率输入。图像编码器每张图像运行一次，可在提示模型之前应用。</a:t>
            </a:r>
            <a:endParaRPr lang="zh-CN" altLang="en-US" sz="1800"/>
          </a:p>
          <a:p>
            <a:endParaRPr lang="en-US" altLang="zh-CN" sz="1800"/>
          </a:p>
          <a:p>
            <a:r>
              <a:rPr lang="en-US" altLang="zh-CN" sz="1800"/>
              <a:t>3.2.</a:t>
            </a:r>
            <a:r>
              <a:rPr lang="zh-CN" altLang="en-US" sz="1800">
                <a:sym typeface="+mn-ea"/>
              </a:rPr>
              <a:t>提示编码器（</a:t>
            </a:r>
            <a:r>
              <a:rPr lang="en-US" altLang="zh-CN" sz="1800">
                <a:sym typeface="+mn-ea"/>
              </a:rPr>
              <a:t>flexible prompt encoder</a:t>
            </a:r>
            <a:r>
              <a:rPr lang="zh-CN" altLang="en-US" sz="1800">
                <a:sym typeface="+mn-ea"/>
              </a:rPr>
              <a:t>）</a:t>
            </a:r>
            <a:endParaRPr lang="en-US" altLang="zh-CN" sz="1800"/>
          </a:p>
          <a:p>
            <a:r>
              <a:rPr lang="zh-CN" altLang="en-US" sz="1800"/>
              <a:t>将提示分组：稀疏（点、方框、文本）和密集（</a:t>
            </a:r>
            <a:r>
              <a:rPr lang="en-US" altLang="zh-CN" sz="1800"/>
              <a:t>mask</a:t>
            </a:r>
            <a:r>
              <a:rPr lang="zh-CN" altLang="en-US" sz="1800"/>
              <a:t>）。使用位置编码表示点和方框，并与每种提示类型的学习嵌入相加；使用</a:t>
            </a:r>
            <a:r>
              <a:rPr lang="en-US" altLang="zh-CN" sz="1800"/>
              <a:t> CLIP</a:t>
            </a:r>
            <a:r>
              <a:rPr lang="zh-CN" altLang="en-US" sz="1800"/>
              <a:t>的现成文本编码器表示自由格式文本。密集提示（即</a:t>
            </a:r>
            <a:r>
              <a:rPr lang="en-US" altLang="zh-CN" sz="1800"/>
              <a:t>masks</a:t>
            </a:r>
            <a:r>
              <a:rPr lang="zh-CN" altLang="en-US" sz="1800"/>
              <a:t>）则使用卷积法嵌入，并与图像嵌入相加。</a:t>
            </a:r>
            <a:endParaRPr lang="zh-CN" altLang="en-US" sz="1800"/>
          </a:p>
          <a:p>
            <a:endParaRPr lang="en-US" altLang="zh-CN" sz="1800"/>
          </a:p>
          <a:p>
            <a:r>
              <a:rPr lang="en-US" altLang="zh-CN" sz="1800"/>
              <a:t>3.3.</a:t>
            </a:r>
            <a:r>
              <a:rPr lang="zh-CN" altLang="en-US" sz="1800">
                <a:sym typeface="+mn-ea"/>
              </a:rPr>
              <a:t>快速掩码解码器（</a:t>
            </a:r>
            <a:r>
              <a:rPr lang="en-US" altLang="zh-CN" sz="1800">
                <a:sym typeface="+mn-ea"/>
              </a:rPr>
              <a:t>Mask decoder</a:t>
            </a:r>
            <a:r>
              <a:rPr lang="zh-CN" altLang="en-US" sz="1800">
                <a:sym typeface="+mn-ea"/>
              </a:rPr>
              <a:t>）</a:t>
            </a:r>
            <a:endParaRPr lang="en-US" altLang="zh-CN" sz="1800"/>
          </a:p>
          <a:p>
            <a:r>
              <a:rPr lang="zh-CN" altLang="en-US" sz="1800"/>
              <a:t>掩码解码器能有效地将图像嵌入、提示嵌入和输出标记映射到掩码上。这一设计受的启发，采用了变形解码器块的修改，然后是动态掩码预测头。解码器使用提示自注意和双向交叉注意（提示到图像嵌入，反之亦然）来更新所有嵌入。运行两个区块后，我们对图像嵌入进行上采样，然后用</a:t>
            </a:r>
            <a:r>
              <a:rPr lang="en-US" altLang="zh-CN" sz="1800"/>
              <a:t> MLP </a:t>
            </a:r>
            <a:r>
              <a:rPr lang="zh-CN" altLang="en-US" sz="1800"/>
              <a:t>将输出标记映射到动态线性分类器，再计算每个图像位置的掩码前景概率。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、图像编码器）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2245" y="1399540"/>
            <a:ext cx="11845290" cy="2820035"/>
          </a:xfrm>
        </p:spPr>
        <p:txBody>
          <a:bodyPr>
            <a:noAutofit/>
          </a:bodyPr>
          <a:p>
            <a:r>
              <a:rPr lang="zh-CN" altLang="en-US" sz="1800">
                <a:sym typeface="+mn-ea"/>
              </a:rPr>
              <a:t>每个图像只经过一次图像编码器处理。</a:t>
            </a:r>
            <a:endParaRPr lang="zh-CN" altLang="en-US" sz="1800"/>
          </a:p>
          <a:p>
            <a:r>
              <a:rPr lang="zh-CN" altLang="en-US" sz="1800"/>
              <a:t>由于输入图像的像素维度不一样，比如</a:t>
            </a:r>
            <a:r>
              <a:rPr lang="en-US" altLang="zh-CN" sz="1800"/>
              <a:t>1*3*1080*1920</a:t>
            </a:r>
            <a:r>
              <a:rPr lang="zh-CN" altLang="en-US" sz="1800"/>
              <a:t>我们首先会进行简单的处理，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处理的方式把最长的边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rize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到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1024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，保持长宽比不变，然后再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padding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较短的那个边得到正方形，最终</a:t>
            </a:r>
            <a:r>
              <a:rPr lang="zh-CN" altLang="en-US" sz="1800">
                <a:sym typeface="+mn-ea"/>
              </a:rPr>
              <a:t>输入的图像大小为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[3,1024,1024]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再进入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image encoder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进行图像编码。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r>
              <a:rPr lang="zh-CN" altLang="en-US" sz="1800">
                <a:sym typeface="+mn-ea"/>
              </a:rPr>
              <a:t>输出图像是输入图像的</a:t>
            </a:r>
            <a:r>
              <a:rPr lang="en-US" altLang="zh-CN" sz="1800">
                <a:sym typeface="+mn-ea"/>
              </a:rPr>
              <a:t>16</a:t>
            </a:r>
            <a:r>
              <a:rPr lang="zh-CN" altLang="en-US" sz="1800">
                <a:sym typeface="+mn-ea"/>
              </a:rPr>
              <a:t>倍缩放嵌入，输出的特征图是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 [256,64,64]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。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r>
              <a:rPr lang="zh-CN" altLang="en-US" sz="1800">
                <a:solidFill>
                  <a:schemeClr val="tx1"/>
                </a:solidFill>
                <a:sym typeface="+mn-ea"/>
              </a:rPr>
              <a:t>如下蓝色图，输入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[3,1024,1024]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通过一个卷积核为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16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且步长为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16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的卷积下采样到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64*64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permute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替换排列顺序，与位置编码进行相加，的到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[64,64,1280]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再进入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Transformer Block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，这个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block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vit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中的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Transformer Encoder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结构完全相同。具体介绍再下一张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ppt</a:t>
            </a:r>
            <a:endParaRPr lang="zh-CN" altLang="en-US" sz="18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26110" y="4323080"/>
            <a:ext cx="10408285" cy="2027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、图像编码器）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4950" y="4815840"/>
            <a:ext cx="11845290" cy="1278255"/>
          </a:xfrm>
        </p:spPr>
        <p:txBody>
          <a:bodyPr>
            <a:noAutofit/>
          </a:bodyPr>
          <a:p>
            <a:r>
              <a:rPr lang="zh-CN" altLang="en-US" sz="1800"/>
              <a:t>在</a:t>
            </a:r>
            <a:r>
              <a:rPr lang="en-US" altLang="zh-CN" sz="1800">
                <a:sym typeface="+mn-ea"/>
              </a:rPr>
              <a:t>Transformer Block</a:t>
            </a:r>
            <a:r>
              <a:rPr lang="zh-CN" altLang="en-US" sz="1800">
                <a:sym typeface="+mn-ea"/>
              </a:rPr>
              <a:t>的输入中包含了位置信息。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由于</a:t>
            </a:r>
            <a:r>
              <a:rPr lang="en-US" altLang="zh-CN" sz="1800">
                <a:sym typeface="+mn-ea"/>
              </a:rPr>
              <a:t>64</a:t>
            </a:r>
            <a:r>
              <a:rPr lang="zh-CN" altLang="en-US" sz="1800">
                <a:sym typeface="+mn-ea"/>
              </a:rPr>
              <a:t>不能被</a:t>
            </a:r>
            <a:r>
              <a:rPr lang="en-US" altLang="zh-CN" sz="1800">
                <a:sym typeface="+mn-ea"/>
              </a:rPr>
              <a:t>14</a:t>
            </a:r>
            <a:r>
              <a:rPr lang="zh-CN" altLang="en-US" sz="1800">
                <a:sym typeface="+mn-ea"/>
              </a:rPr>
              <a:t>整除，首先要，需要先</a:t>
            </a:r>
            <a:r>
              <a:rPr lang="en-US" altLang="zh-CN" sz="1800">
                <a:sym typeface="+mn-ea"/>
              </a:rPr>
              <a:t>Pad</a:t>
            </a:r>
            <a:r>
              <a:rPr lang="zh-CN" altLang="en-US" sz="1800">
                <a:sym typeface="+mn-ea"/>
              </a:rPr>
              <a:t>成</a:t>
            </a:r>
            <a:r>
              <a:rPr lang="en-US" altLang="zh-CN" sz="1800">
                <a:sym typeface="+mn-ea"/>
              </a:rPr>
              <a:t> 70*70</a:t>
            </a:r>
            <a:r>
              <a:rPr lang="zh-CN" altLang="en-US" sz="1800">
                <a:sym typeface="+mn-ea"/>
              </a:rPr>
              <a:t>，再用</a:t>
            </a:r>
            <a:r>
              <a:rPr lang="en-US" altLang="zh-CN" sz="1800">
                <a:sym typeface="+mn-ea"/>
              </a:rPr>
              <a:t>14</a:t>
            </a:r>
            <a:r>
              <a:rPr lang="en-US" altLang="en-US" sz="1800">
                <a:sym typeface="+mn-ea"/>
              </a:rPr>
              <a:t>×</a:t>
            </a:r>
            <a:r>
              <a:rPr lang="en-US" altLang="zh-CN" sz="1800">
                <a:sym typeface="+mn-ea"/>
              </a:rPr>
              <a:t>14 </a:t>
            </a:r>
            <a:r>
              <a:rPr lang="zh-CN" altLang="en-US" sz="1800">
                <a:sym typeface="+mn-ea"/>
              </a:rPr>
              <a:t>窗口注意力，切成</a:t>
            </a:r>
            <a:r>
              <a:rPr lang="en-US" altLang="zh-CN" sz="1800">
                <a:sym typeface="+mn-ea"/>
              </a:rPr>
              <a:t>5*5,</a:t>
            </a:r>
            <a:r>
              <a:rPr lang="zh-CN" altLang="en-US" sz="1800">
                <a:sym typeface="+mn-ea"/>
              </a:rPr>
              <a:t>共</a:t>
            </a:r>
            <a:r>
              <a:rPr lang="en-US" altLang="zh-CN" sz="1800">
                <a:sym typeface="+mn-ea"/>
              </a:rPr>
              <a:t>25</a:t>
            </a:r>
            <a:r>
              <a:rPr lang="zh-CN" altLang="en-US" sz="1800">
                <a:sym typeface="+mn-ea"/>
              </a:rPr>
              <a:t>小块</a:t>
            </a:r>
            <a:endParaRPr lang="zh-CN" altLang="en-US" sz="1800"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600060"/>
            <a:ext cx="12192000" cy="27930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、图像编码器）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2245" y="1399540"/>
            <a:ext cx="11845290" cy="2820035"/>
          </a:xfrm>
        </p:spPr>
        <p:txBody>
          <a:bodyPr>
            <a:noAutofit/>
          </a:bodyPr>
          <a:p>
            <a:r>
              <a:rPr lang="zh-CN" altLang="en-US" sz="1800">
                <a:sym typeface="+mn-ea"/>
              </a:rPr>
              <a:t>每个图像只经过一次图像编码器处理。</a:t>
            </a:r>
            <a:endParaRPr lang="zh-CN" altLang="en-US" sz="1800"/>
          </a:p>
          <a:p>
            <a:r>
              <a:rPr lang="zh-CN" altLang="en-US" sz="1800"/>
              <a:t>由于输入图像的像素维度不一样，比如</a:t>
            </a:r>
            <a:r>
              <a:rPr lang="en-US" altLang="zh-CN" sz="1800"/>
              <a:t>1*3*1080*1920</a:t>
            </a:r>
            <a:r>
              <a:rPr lang="zh-CN" altLang="en-US" sz="1800"/>
              <a:t>我们首先会进行简单的处理，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处理的方式把最长的边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rize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到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1024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，保持长宽比不变，然后再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padding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较短的那个边得到正方形，最终</a:t>
            </a:r>
            <a:r>
              <a:rPr lang="zh-CN" altLang="en-US" sz="1800">
                <a:sym typeface="+mn-ea"/>
              </a:rPr>
              <a:t>输入的图像大小为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[3,1024,1024]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再进入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image encoder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进行图像编码。</a:t>
            </a:r>
            <a:endParaRPr lang="en-US" altLang="zh-CN" sz="1800">
              <a:solidFill>
                <a:schemeClr val="tx1"/>
              </a:solidFill>
            </a:endParaRPr>
          </a:p>
          <a:p>
            <a:r>
              <a:rPr lang="zh-CN" altLang="en-US" sz="1800"/>
              <a:t>图像编码用的模型是</a:t>
            </a:r>
            <a:r>
              <a:rPr lang="en-US" altLang="zh-CN" sz="1800"/>
              <a:t>MAE</a:t>
            </a:r>
            <a:r>
              <a:rPr lang="zh-CN" altLang="en-US" sz="1800"/>
              <a:t>预训练的视觉转换器（</a:t>
            </a:r>
            <a:r>
              <a:rPr lang="en-US" altLang="zh-CN" sz="1800"/>
              <a:t>VIT</a:t>
            </a:r>
            <a:r>
              <a:rPr lang="zh-CN" altLang="en-US" sz="1800"/>
              <a:t>），具体用的是</a:t>
            </a:r>
            <a:r>
              <a:rPr lang="en-US" altLang="zh-CN" sz="1800"/>
              <a:t>ViT-H/16</a:t>
            </a:r>
            <a:r>
              <a:rPr lang="zh-CN" altLang="en-US" sz="1800"/>
              <a:t>，它具有</a:t>
            </a:r>
            <a:r>
              <a:rPr lang="en-US" altLang="zh-CN" sz="1800"/>
              <a:t> 14</a:t>
            </a:r>
            <a:r>
              <a:rPr lang="en-US" altLang="en-US" sz="1800"/>
              <a:t>×</a:t>
            </a:r>
            <a:r>
              <a:rPr lang="en-US" altLang="zh-CN" sz="1800"/>
              <a:t>14 </a:t>
            </a:r>
            <a:r>
              <a:rPr lang="zh-CN" altLang="en-US" sz="1800"/>
              <a:t>窗口注意力和四个等间距的全局注意力区块。</a:t>
            </a:r>
            <a:r>
              <a:rPr lang="zh-CN" altLang="en-US" sz="1800">
                <a:sym typeface="+mn-ea"/>
              </a:rPr>
              <a:t>默认的</a:t>
            </a:r>
            <a:r>
              <a:rPr lang="en-US" altLang="zh-CN" sz="1800">
                <a:sym typeface="+mn-ea"/>
              </a:rPr>
              <a:t>patch size</a:t>
            </a:r>
            <a:r>
              <a:rPr lang="zh-CN" altLang="en-US" sz="1800">
                <a:sym typeface="+mn-ea"/>
              </a:rPr>
              <a:t>为</a:t>
            </a:r>
            <a:r>
              <a:rPr lang="en-US" altLang="zh-CN" sz="1800">
                <a:sym typeface="+mn-ea"/>
              </a:rPr>
              <a:t>[16,16]</a:t>
            </a:r>
            <a:r>
              <a:rPr lang="zh-CN" altLang="en-US" sz="1800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输出的特征图是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 [256,64,64]</a:t>
            </a:r>
            <a:endParaRPr lang="en-US" altLang="zh-CN" sz="1800"/>
          </a:p>
          <a:p>
            <a:r>
              <a:rPr lang="zh-CN" altLang="en-US" sz="1800">
                <a:sym typeface="+mn-ea"/>
              </a:rPr>
              <a:t>输入图像大小为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[3,1024,1024]</a:t>
            </a:r>
            <a:r>
              <a:rPr lang="zh-CN" altLang="en-US" sz="1800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输出图像是输入图像的</a:t>
            </a:r>
            <a:r>
              <a:rPr lang="en-US" altLang="zh-CN" sz="1800">
                <a:sym typeface="+mn-ea"/>
              </a:rPr>
              <a:t>16</a:t>
            </a:r>
            <a:r>
              <a:rPr lang="zh-CN" altLang="en-US" sz="1800">
                <a:sym typeface="+mn-ea"/>
              </a:rPr>
              <a:t>倍缩放嵌入，，</a:t>
            </a:r>
            <a:r>
              <a:rPr lang="zh-CN" altLang="en-US" sz="1800">
                <a:sym typeface="+mn-ea"/>
              </a:rPr>
              <a:t>也就是图中的</a:t>
            </a:r>
            <a:r>
              <a:rPr lang="en-US" altLang="zh-CN" sz="1800">
                <a:sym typeface="+mn-ea"/>
              </a:rPr>
              <a:t>image embedding</a:t>
            </a:r>
            <a:r>
              <a:rPr lang="zh-CN" altLang="en-US" sz="1800">
                <a:sym typeface="+mn-ea"/>
              </a:rPr>
              <a:t>。为了减少通道维度，按照文献的方法，先进行</a:t>
            </a:r>
            <a:r>
              <a:rPr lang="en-US" altLang="zh-CN" sz="1800">
                <a:sym typeface="+mn-ea"/>
              </a:rPr>
              <a:t> 1</a:t>
            </a:r>
            <a:r>
              <a:rPr lang="en-US" altLang="en-US" sz="1800">
                <a:sym typeface="+mn-ea"/>
              </a:rPr>
              <a:t>×</a:t>
            </a:r>
            <a:r>
              <a:rPr lang="en-US" altLang="zh-CN" sz="1800">
                <a:sym typeface="+mn-ea"/>
              </a:rPr>
              <a:t>1 </a:t>
            </a:r>
            <a:r>
              <a:rPr lang="zh-CN" altLang="en-US" sz="1800">
                <a:sym typeface="+mn-ea"/>
              </a:rPr>
              <a:t>卷积，得到</a:t>
            </a:r>
            <a:r>
              <a:rPr lang="en-US" altLang="zh-CN" sz="1800">
                <a:sym typeface="+mn-ea"/>
              </a:rPr>
              <a:t> 256 </a:t>
            </a:r>
            <a:r>
              <a:rPr lang="zh-CN" altLang="en-US" sz="1800">
                <a:sym typeface="+mn-ea"/>
              </a:rPr>
              <a:t>个通道，然后再进行</a:t>
            </a:r>
            <a:r>
              <a:rPr lang="en-US" altLang="zh-CN" sz="1800">
                <a:sym typeface="+mn-ea"/>
              </a:rPr>
              <a:t> 3</a:t>
            </a:r>
            <a:r>
              <a:rPr lang="en-US" altLang="en-US" sz="1800">
                <a:sym typeface="+mn-ea"/>
              </a:rPr>
              <a:t>×</a:t>
            </a:r>
            <a:r>
              <a:rPr lang="en-US" altLang="zh-CN" sz="1800">
                <a:sym typeface="+mn-ea"/>
              </a:rPr>
              <a:t>3 </a:t>
            </a:r>
            <a:r>
              <a:rPr lang="zh-CN" altLang="en-US" sz="1800">
                <a:sym typeface="+mn-ea"/>
              </a:rPr>
              <a:t>卷积，也得到</a:t>
            </a:r>
            <a:r>
              <a:rPr lang="en-US" altLang="zh-CN" sz="1800">
                <a:sym typeface="+mn-ea"/>
              </a:rPr>
              <a:t> 256 </a:t>
            </a:r>
            <a:r>
              <a:rPr lang="zh-CN" altLang="en-US" sz="1800">
                <a:sym typeface="+mn-ea"/>
              </a:rPr>
              <a:t>个通道。</a:t>
            </a:r>
            <a:r>
              <a:rPr lang="en-US" altLang="zh-CN" sz="1800">
                <a:sym typeface="+mn-ea"/>
              </a:rPr>
              <a:t> </a:t>
            </a:r>
            <a:r>
              <a:rPr lang="zh-CN" altLang="en-US" sz="1800">
                <a:sym typeface="+mn-ea"/>
              </a:rPr>
              <a:t>每次卷积后都要进行层归一化处理。</a:t>
            </a:r>
            <a:endParaRPr lang="zh-CN" altLang="en-US" sz="1800">
              <a:sym typeface="+mn-ea"/>
            </a:endParaRPr>
          </a:p>
          <a:p>
            <a:endParaRPr lang="zh-CN" altLang="en-US" sz="18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762635" y="4391660"/>
            <a:ext cx="10408285" cy="2027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" y="4323080"/>
            <a:ext cx="11029950" cy="24574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、提示编码器）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9745" y="1380490"/>
            <a:ext cx="11261725" cy="3362960"/>
          </a:xfrm>
        </p:spPr>
        <p:txBody>
          <a:bodyPr>
            <a:noAutofit/>
          </a:bodyPr>
          <a:p>
            <a:r>
              <a:rPr lang="zh-CN" altLang="en-US" sz="1800"/>
              <a:t>不同类型的</a:t>
            </a:r>
            <a:r>
              <a:rPr lang="en-US" altLang="zh-CN" sz="1800"/>
              <a:t>prompt</a:t>
            </a:r>
            <a:r>
              <a:rPr lang="zh-CN" altLang="en-US" sz="1800"/>
              <a:t>处理方式也是不一样的，</a:t>
            </a:r>
            <a:endParaRPr lang="zh-CN" altLang="en-US" sz="1800"/>
          </a:p>
          <a:p>
            <a:r>
              <a:rPr lang="en-US" altLang="zh-CN" sz="1800"/>
              <a:t>1</a:t>
            </a:r>
            <a:r>
              <a:rPr lang="zh-CN" altLang="en-US" sz="1800"/>
              <a:t>、通过位置编码和学习到的嵌入来表示点和框，一个点</a:t>
            </a:r>
            <a:r>
              <a:rPr lang="en-US" altLang="zh-CN" sz="1800"/>
              <a:t>=</a:t>
            </a:r>
            <a:r>
              <a:rPr lang="zh-CN" altLang="en-US" sz="1800"/>
              <a:t>该点的位置编码</a:t>
            </a:r>
            <a:r>
              <a:rPr lang="en-US" altLang="zh-CN" sz="1800"/>
              <a:t>+</a:t>
            </a:r>
            <a:r>
              <a:rPr lang="zh-CN" altLang="en-US" sz="1800"/>
              <a:t>两个学习到的嵌入式编码的总和，嵌入式编码表示该点是在前景还是背景中。一个方框用一对嵌入表示：</a:t>
            </a:r>
            <a:r>
              <a:rPr lang="en-US" altLang="zh-CN" sz="1800"/>
              <a:t>(1) </a:t>
            </a:r>
            <a:r>
              <a:rPr lang="zh-CN" altLang="en-US" sz="1800"/>
              <a:t>其左上角的位置编码与表示</a:t>
            </a:r>
            <a:r>
              <a:rPr lang="en-US" altLang="zh-CN" sz="1800"/>
              <a:t> "</a:t>
            </a:r>
            <a:r>
              <a:rPr lang="zh-CN" altLang="en-US" sz="1800"/>
              <a:t>左上角</a:t>
            </a:r>
            <a:r>
              <a:rPr lang="en-US" altLang="zh-CN" sz="1800"/>
              <a:t> "</a:t>
            </a:r>
            <a:r>
              <a:rPr lang="zh-CN" altLang="en-US" sz="1800"/>
              <a:t>的学习嵌入总和；</a:t>
            </a:r>
            <a:r>
              <a:rPr lang="en-US" altLang="zh-CN" sz="1800"/>
              <a:t>(2) </a:t>
            </a:r>
            <a:r>
              <a:rPr lang="en-US" altLang="zh-CN" sz="1800">
                <a:sym typeface="+mn-ea"/>
              </a:rPr>
              <a:t> </a:t>
            </a:r>
            <a:r>
              <a:rPr lang="zh-CN" altLang="en-US" sz="1800">
                <a:sym typeface="+mn-ea"/>
              </a:rPr>
              <a:t>其右下角的位置编码与表示</a:t>
            </a:r>
            <a:r>
              <a:rPr lang="en-US" altLang="zh-CN" sz="1800">
                <a:sym typeface="+mn-ea"/>
              </a:rPr>
              <a:t> "</a:t>
            </a:r>
            <a:r>
              <a:rPr lang="zh-CN" altLang="en-US" sz="1800">
                <a:sym typeface="+mn-ea"/>
              </a:rPr>
              <a:t>右下角</a:t>
            </a:r>
            <a:r>
              <a:rPr lang="en-US" altLang="zh-CN" sz="1800">
                <a:sym typeface="+mn-ea"/>
              </a:rPr>
              <a:t> "</a:t>
            </a:r>
            <a:r>
              <a:rPr lang="zh-CN" altLang="en-US" sz="1800">
                <a:sym typeface="+mn-ea"/>
              </a:rPr>
              <a:t>的学习嵌入总和</a:t>
            </a:r>
            <a:r>
              <a:rPr lang="zh-CN" altLang="en-US" sz="1800"/>
              <a:t>。</a:t>
            </a:r>
            <a:endParaRPr lang="zh-CN" altLang="en-US" sz="1800"/>
          </a:p>
          <a:p>
            <a:r>
              <a:rPr lang="en-US" altLang="zh-CN" sz="1800"/>
              <a:t>2</a:t>
            </a:r>
            <a:r>
              <a:rPr lang="zh-CN" altLang="en-US" sz="1800"/>
              <a:t>、使用</a:t>
            </a:r>
            <a:r>
              <a:rPr lang="en-US" altLang="zh-CN" sz="1800"/>
              <a:t>CLIP</a:t>
            </a:r>
            <a:r>
              <a:rPr lang="zh-CN" altLang="en-US" sz="1800"/>
              <a:t>中现成的文本编码器来表示自由格式文本。</a:t>
            </a:r>
            <a:endParaRPr lang="en-US" altLang="zh-CN" sz="1800"/>
          </a:p>
          <a:p>
            <a:r>
              <a:rPr lang="en-US" sz="1800"/>
              <a:t>3</a:t>
            </a:r>
            <a:r>
              <a:rPr lang="zh-CN" altLang="en-US" sz="1800"/>
              <a:t>、</a:t>
            </a:r>
            <a:r>
              <a:rPr lang="en-US" altLang="zh-CN" sz="1800"/>
              <a:t>mask</a:t>
            </a:r>
            <a:r>
              <a:rPr lang="zh-CN" altLang="en-US" sz="1800"/>
              <a:t>掩码</a:t>
            </a:r>
            <a:r>
              <a:rPr lang="zh-CN" altLang="en-US" sz="1800">
                <a:sym typeface="+mn-ea"/>
              </a:rPr>
              <a:t>比输入图像低</a:t>
            </a:r>
            <a:r>
              <a:rPr lang="en-US" altLang="zh-CN" sz="1800">
                <a:sym typeface="+mn-ea"/>
              </a:rPr>
              <a:t> 4 </a:t>
            </a:r>
            <a:r>
              <a:rPr lang="zh-CN" altLang="en-US" sz="1800">
                <a:sym typeface="+mn-ea"/>
              </a:rPr>
              <a:t>倍的分辨率，</a:t>
            </a:r>
            <a:r>
              <a:rPr lang="zh-CN" altLang="en-US" sz="1800"/>
              <a:t>然后使用两个</a:t>
            </a:r>
            <a:r>
              <a:rPr lang="en-US" altLang="zh-CN" sz="1800"/>
              <a:t> 2</a:t>
            </a:r>
            <a:r>
              <a:rPr lang="en-US" altLang="en-US" sz="1800"/>
              <a:t>×</a:t>
            </a:r>
            <a:r>
              <a:rPr lang="en-US" altLang="zh-CN" sz="1800"/>
              <a:t>2 </a:t>
            </a:r>
            <a:r>
              <a:rPr lang="zh-CN" altLang="en-US" sz="1800"/>
              <a:t>的</a:t>
            </a:r>
            <a:r>
              <a:rPr lang="en-US" altLang="zh-CN" sz="1800"/>
              <a:t>stride-2 </a:t>
            </a:r>
            <a:r>
              <a:rPr lang="zh-CN" altLang="en-US" sz="1800"/>
              <a:t>卷积将输出通道分别为</a:t>
            </a:r>
            <a:r>
              <a:rPr lang="en-US" altLang="zh-CN" sz="1800"/>
              <a:t> 4 </a:t>
            </a:r>
            <a:r>
              <a:rPr lang="zh-CN" altLang="en-US" sz="1800"/>
              <a:t>和</a:t>
            </a:r>
            <a:r>
              <a:rPr lang="en-US" altLang="zh-CN" sz="1800"/>
              <a:t> 16 </a:t>
            </a:r>
            <a:r>
              <a:rPr lang="zh-CN" altLang="en-US" sz="1800"/>
              <a:t>的掩码再降低</a:t>
            </a:r>
            <a:r>
              <a:rPr lang="en-US" altLang="zh-CN" sz="1800"/>
              <a:t> 4 </a:t>
            </a:r>
            <a:r>
              <a:rPr lang="zh-CN" altLang="en-US" sz="1800"/>
              <a:t>倍。最后的</a:t>
            </a:r>
            <a:r>
              <a:rPr lang="en-US" altLang="zh-CN" sz="1800"/>
              <a:t> 1</a:t>
            </a:r>
            <a:r>
              <a:rPr lang="en-US" altLang="en-US" sz="1800"/>
              <a:t>×</a:t>
            </a:r>
            <a:r>
              <a:rPr lang="en-US" altLang="zh-CN" sz="1800"/>
              <a:t>1 </a:t>
            </a:r>
            <a:r>
              <a:rPr lang="zh-CN" altLang="en-US" sz="1800"/>
              <a:t>卷积将通道维度映射为</a:t>
            </a:r>
            <a:r>
              <a:rPr lang="en-US" altLang="zh-CN" sz="1800"/>
              <a:t> 256</a:t>
            </a:r>
            <a:r>
              <a:rPr lang="zh-CN" altLang="en-US" sz="1800"/>
              <a:t>。每一层都通过</a:t>
            </a:r>
            <a:r>
              <a:rPr lang="en-US" altLang="zh-CN" sz="1800"/>
              <a:t> GELU </a:t>
            </a:r>
            <a:r>
              <a:rPr lang="zh-CN" altLang="en-US" sz="1800"/>
              <a:t>激活和层归一化进行分隔。然后逐元素添加掩码和图像嵌入。如果没有掩码提示，则在每个图像嵌入位置添加代表</a:t>
            </a:r>
            <a:r>
              <a:rPr lang="en-US" altLang="zh-CN" sz="1800"/>
              <a:t> "</a:t>
            </a:r>
            <a:r>
              <a:rPr lang="zh-CN" altLang="en-US" sz="1800"/>
              <a:t>无掩码</a:t>
            </a:r>
            <a:r>
              <a:rPr lang="en-US" altLang="zh-CN" sz="1800"/>
              <a:t> "</a:t>
            </a:r>
            <a:r>
              <a:rPr lang="zh-CN" altLang="en-US" sz="1800"/>
              <a:t>的学习嵌入。这个</a:t>
            </a:r>
            <a:r>
              <a:rPr lang="en-US" altLang="zh-CN" sz="1800"/>
              <a:t>mask</a:t>
            </a:r>
            <a:r>
              <a:rPr lang="zh-CN" altLang="en-US" sz="1800"/>
              <a:t>的作用更像是一个先验知识，告诉模型可以基于这个</a:t>
            </a:r>
            <a:r>
              <a:rPr lang="en-US" altLang="zh-CN" sz="1800"/>
              <a:t>mask</a:t>
            </a:r>
            <a:r>
              <a:rPr lang="zh-CN" altLang="en-US" sz="1800"/>
              <a:t>来进行分割，对应的我们也需要一个编码器对这个</a:t>
            </a:r>
            <a:r>
              <a:rPr lang="en-US" altLang="zh-CN" sz="1800"/>
              <a:t>dense prompt</a:t>
            </a:r>
            <a:r>
              <a:rPr lang="zh-CN" altLang="en-US" sz="1800"/>
              <a:t>进行编码，也就是图中的</a:t>
            </a:r>
            <a:r>
              <a:rPr lang="en-US" altLang="zh-CN" sz="1800"/>
              <a:t>conv</a:t>
            </a:r>
            <a:r>
              <a:rPr lang="zh-CN" altLang="en-US" sz="1800"/>
              <a:t>，这个</a:t>
            </a:r>
            <a:r>
              <a:rPr lang="en-US" altLang="zh-CN" sz="1800"/>
              <a:t>conv</a:t>
            </a:r>
            <a:r>
              <a:rPr lang="zh-CN" altLang="en-US" sz="1800"/>
              <a:t>的作用除了提取特征之外还有一个重要的作用，也就是讲</a:t>
            </a:r>
            <a:r>
              <a:rPr lang="en-US" altLang="zh-CN" sz="1800"/>
              <a:t>mask</a:t>
            </a:r>
            <a:r>
              <a:rPr lang="zh-CN" altLang="en-US" sz="1800"/>
              <a:t>从</a:t>
            </a:r>
            <a:r>
              <a:rPr lang="en-US" altLang="zh-CN" sz="1800"/>
              <a:t>[emb,256,256]</a:t>
            </a:r>
            <a:r>
              <a:rPr lang="zh-CN" altLang="en-US" sz="1800"/>
              <a:t>的维度下采样到</a:t>
            </a:r>
            <a:r>
              <a:rPr lang="en-US" altLang="zh-CN" sz="1800"/>
              <a:t> [256,64,64]</a:t>
            </a:r>
            <a:r>
              <a:rPr lang="zh-CN" altLang="en-US" sz="1800"/>
              <a:t>，和</a:t>
            </a:r>
            <a:r>
              <a:rPr lang="en-US" altLang="zh-CN" sz="1800"/>
              <a:t>image embedding </a:t>
            </a:r>
            <a:r>
              <a:rPr lang="zh-CN" altLang="en-US" sz="1800"/>
              <a:t>相加来融合这个先验知识。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1075" y="3723640"/>
            <a:ext cx="8261350" cy="29146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、解码码器）</a:t>
            </a:r>
            <a:r>
              <a:rPr lang="en-US" altLang="zh-CN">
                <a:sym typeface="+mn-ea"/>
              </a:rPr>
              <a:t>-1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485" y="1559560"/>
            <a:ext cx="11348720" cy="2878455"/>
          </a:xfrm>
        </p:spPr>
        <p:txBody>
          <a:bodyPr/>
          <a:p>
            <a:r>
              <a:rPr lang="zh-CN" altLang="en-US" sz="1600"/>
              <a:t>核心使用的还是</a:t>
            </a:r>
            <a:r>
              <a:rPr lang="en-US" altLang="zh-CN" sz="1600"/>
              <a:t>transformer</a:t>
            </a:r>
            <a:endParaRPr lang="zh-CN" altLang="en-US" sz="1600"/>
          </a:p>
          <a:p>
            <a:r>
              <a:rPr lang="zh-CN" altLang="en-US" sz="1600"/>
              <a:t>注意！！如果有</a:t>
            </a:r>
            <a:r>
              <a:rPr lang="en-US" altLang="zh-CN" sz="1600"/>
              <a:t>mask</a:t>
            </a:r>
            <a:r>
              <a:rPr lang="zh-CN" altLang="en-US" sz="1600"/>
              <a:t>的提示的话，那么</a:t>
            </a:r>
            <a:r>
              <a:rPr lang="en-US" altLang="zh-CN" sz="1600"/>
              <a:t>image embedding</a:t>
            </a:r>
            <a:r>
              <a:rPr lang="zh-CN" altLang="en-US" sz="1600"/>
              <a:t>就是由</a:t>
            </a:r>
            <a:r>
              <a:rPr lang="en-US" altLang="zh-CN" sz="1600"/>
              <a:t>image encoder</a:t>
            </a:r>
            <a:r>
              <a:rPr lang="zh-CN" altLang="en-US" sz="1600"/>
              <a:t>得到的图像特征和</a:t>
            </a:r>
            <a:r>
              <a:rPr lang="en-US" altLang="zh-CN" sz="1600"/>
              <a:t>mask</a:t>
            </a:r>
            <a:r>
              <a:rPr lang="zh-CN" altLang="en-US" sz="1600"/>
              <a:t>相加之后的特征。</a:t>
            </a:r>
            <a:endParaRPr lang="zh-CN" altLang="en-US" sz="1600"/>
          </a:p>
          <a:p>
            <a:r>
              <a:rPr lang="zh-CN" altLang="en-US" sz="1600"/>
              <a:t>在</a:t>
            </a:r>
            <a:r>
              <a:rPr lang="en-US" altLang="zh-CN" sz="1600"/>
              <a:t>sam</a:t>
            </a:r>
            <a:r>
              <a:rPr lang="zh-CN" altLang="en-US" sz="1600"/>
              <a:t>中，作者加入了学习到的输出标记嵌入，叫做</a:t>
            </a:r>
            <a:r>
              <a:rPr lang="en-US" altLang="zh-CN" sz="1600"/>
              <a:t>output tokens</a:t>
            </a:r>
            <a:r>
              <a:rPr lang="zh-CN" altLang="en-US" sz="1600"/>
              <a:t>，这个</a:t>
            </a:r>
            <a:r>
              <a:rPr lang="en-US" altLang="zh-CN" sz="1600"/>
              <a:t>output tokens</a:t>
            </a:r>
            <a:r>
              <a:rPr lang="zh-CN" altLang="en-US" sz="1600"/>
              <a:t>类似于</a:t>
            </a:r>
            <a:r>
              <a:rPr lang="en-US" altLang="zh-CN" sz="1600"/>
              <a:t>vit</a:t>
            </a:r>
            <a:r>
              <a:rPr lang="zh-CN" altLang="en-US" sz="1600"/>
              <a:t>中的</a:t>
            </a:r>
            <a:r>
              <a:rPr lang="en-US" altLang="zh-CN" sz="1600"/>
              <a:t>cls token</a:t>
            </a:r>
            <a:r>
              <a:rPr lang="zh-CN" altLang="en-US" sz="1600"/>
              <a:t>，来聚合所有</a:t>
            </a:r>
            <a:r>
              <a:rPr lang="en-US" altLang="zh-CN" sz="1600"/>
              <a:t>prompt tokens</a:t>
            </a:r>
            <a:r>
              <a:rPr lang="zh-CN" altLang="en-US" sz="1600"/>
              <a:t>的信息，和</a:t>
            </a:r>
            <a:r>
              <a:rPr lang="en-US" altLang="zh-CN" sz="1600"/>
              <a:t>prompt tokens</a:t>
            </a:r>
            <a:r>
              <a:rPr lang="zh-CN" altLang="en-US" sz="1600"/>
              <a:t>进行拼接。这个</a:t>
            </a:r>
            <a:r>
              <a:rPr lang="en-US" altLang="zh-CN" sz="1600"/>
              <a:t>output tokens</a:t>
            </a:r>
            <a:r>
              <a:rPr lang="zh-CN" altLang="en-US" sz="1600"/>
              <a:t>在这里的作用就是去预测最后的</a:t>
            </a:r>
            <a:r>
              <a:rPr lang="en-US" altLang="zh-CN" sz="1600"/>
              <a:t>IoU scores</a:t>
            </a:r>
            <a:r>
              <a:rPr lang="zh-CN" altLang="en-US" sz="1600"/>
              <a:t>和参与最终的</a:t>
            </a:r>
            <a:r>
              <a:rPr lang="en-US" altLang="zh-CN" sz="1600"/>
              <a:t>mask</a:t>
            </a:r>
            <a:r>
              <a:rPr lang="zh-CN" altLang="en-US" sz="1600"/>
              <a:t>计算的操作。其实，在代码中，这个</a:t>
            </a:r>
            <a:r>
              <a:rPr lang="en-US" altLang="zh-CN" sz="1600"/>
              <a:t>output tokens</a:t>
            </a:r>
            <a:r>
              <a:rPr lang="zh-CN" altLang="en-US" sz="1600"/>
              <a:t>是有五个序列，第一个序列也就是用来预测另外四个序列</a:t>
            </a:r>
            <a:r>
              <a:rPr lang="en-US" altLang="zh-CN" sz="1600"/>
              <a:t>IoU scores</a:t>
            </a:r>
            <a:r>
              <a:rPr lang="zh-CN" altLang="en-US" sz="1600"/>
              <a:t>，而另外四个序列便是去预测最后的</a:t>
            </a:r>
            <a:r>
              <a:rPr lang="en-US" altLang="zh-CN" sz="1600"/>
              <a:t>mask</a:t>
            </a:r>
            <a:r>
              <a:rPr lang="zh-CN" altLang="en-US" sz="1600"/>
              <a:t>。其实刚才我们也提到了，对于歧义问题，我们就一股脑的预测三个</a:t>
            </a:r>
            <a:r>
              <a:rPr lang="en-US" altLang="zh-CN" sz="1600"/>
              <a:t>mask</a:t>
            </a:r>
            <a:r>
              <a:rPr lang="zh-CN" altLang="en-US" sz="1600"/>
              <a:t>，多余的一个其实也是为了处理歧义的问题。因为，在一些情况下，比如我们输入了不只一个</a:t>
            </a:r>
            <a:r>
              <a:rPr lang="en-US" altLang="zh-CN" sz="1600"/>
              <a:t>prompt</a:t>
            </a:r>
            <a:r>
              <a:rPr lang="zh-CN" altLang="en-US" sz="1600"/>
              <a:t>，假设我们向刚才的那个剪子，我们直接把某一部分用</a:t>
            </a:r>
            <a:r>
              <a:rPr lang="en-US" altLang="zh-CN" sz="1600"/>
              <a:t>box</a:t>
            </a:r>
            <a:r>
              <a:rPr lang="zh-CN" altLang="en-US" sz="1600"/>
              <a:t>圈起来，此时的歧义其实并不需要处理，因为我们知道这个点需要处理哪个部分的图片内容，而不用去猜测，就只输出一个序列来做</a:t>
            </a:r>
            <a:r>
              <a:rPr lang="en-US" altLang="zh-CN" sz="1600"/>
              <a:t>mask</a:t>
            </a:r>
            <a:r>
              <a:rPr lang="zh-CN" altLang="en-US" sz="1600"/>
              <a:t>，同时也是只用输出对应的</a:t>
            </a:r>
            <a:r>
              <a:rPr lang="en-US" altLang="zh-CN" sz="1600"/>
              <a:t>Iou scores</a:t>
            </a:r>
            <a:r>
              <a:rPr lang="zh-CN" altLang="en-US" sz="1600"/>
              <a:t>，在代码中也是通过一个</a:t>
            </a:r>
            <a:r>
              <a:rPr lang="en-US" altLang="zh-CN" sz="1600"/>
              <a:t>multimask_output</a:t>
            </a:r>
            <a:r>
              <a:rPr lang="zh-CN" altLang="en-US" sz="1600"/>
              <a:t>变量来控制是不是输出多个</a:t>
            </a:r>
            <a:r>
              <a:rPr lang="en-US" altLang="zh-CN" sz="1600"/>
              <a:t>mask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en-US" altLang="zh-CN" sz="1600"/>
          </a:p>
          <a:p>
            <a:endParaRPr lang="en-US" altLang="zh-CN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（解码码器）</a:t>
            </a:r>
            <a:r>
              <a:rPr lang="en-US" altLang="zh-CN">
                <a:sym typeface="+mn-ea"/>
              </a:rPr>
              <a:t>-2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485" y="1559560"/>
            <a:ext cx="10515600" cy="2878455"/>
          </a:xfrm>
        </p:spPr>
        <p:txBody>
          <a:bodyPr>
            <a:normAutofit fontScale="60000"/>
          </a:bodyPr>
          <a:p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每个解码器层执行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4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个步骤：下面的标记说的是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output tokens+prompt tokens</a:t>
            </a:r>
            <a:endParaRPr lang="zh-CN" altLang="en-US">
              <a:solidFill>
                <a:srgbClr val="191B1F"/>
              </a:solidFill>
              <a:latin typeface="-apple-system"/>
              <a:ea typeface="-apple-system"/>
              <a:sym typeface="+mn-ea"/>
            </a:endParaRPr>
          </a:p>
          <a:p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(1)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对标记进行自关注，</a:t>
            </a:r>
            <a:endParaRPr lang="zh-CN" altLang="en-US">
              <a:solidFill>
                <a:srgbClr val="191B1F"/>
              </a:solidFill>
              <a:latin typeface="-apple-system"/>
              <a:ea typeface="-apple-system"/>
              <a:sym typeface="+mn-ea"/>
            </a:endParaRPr>
          </a:p>
          <a:p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(2)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从标记（作为查询）到图像嵌入进行交叉关注，</a:t>
            </a:r>
            <a:endParaRPr lang="zh-CN" altLang="en-US">
              <a:solidFill>
                <a:srgbClr val="191B1F"/>
              </a:solidFill>
              <a:latin typeface="-apple-system"/>
              <a:ea typeface="-apple-system"/>
              <a:sym typeface="+mn-ea"/>
            </a:endParaRPr>
          </a:p>
          <a:p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(3)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由一个点向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MLP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更新每个标记，</a:t>
            </a:r>
            <a:endParaRPr lang="zh-CN" altLang="en-US">
              <a:solidFill>
                <a:srgbClr val="191B1F"/>
              </a:solidFill>
              <a:latin typeface="-apple-system"/>
              <a:ea typeface="-apple-system"/>
              <a:sym typeface="+mn-ea"/>
            </a:endParaRPr>
          </a:p>
          <a:p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(4)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从图像嵌入（作为查询）到标记进行交叉关注。最后一步用提示信息更新图像嵌入。在交叉注意过程中，图像嵌入被视为一组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642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个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256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维向量。 每个自注意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/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交叉注意和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MLP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都有残差连接、层归一化和训练时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0.1 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的 </a:t>
            </a:r>
            <a:r>
              <a:rPr lang="en-US" altLang="zh-CN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dropout</a:t>
            </a:r>
            <a:r>
              <a:rPr lang="zh-CN" altLang="en-US">
                <a:solidFill>
                  <a:srgbClr val="191B1F"/>
                </a:solidFill>
                <a:latin typeface="-apple-system"/>
                <a:ea typeface="-apple-system"/>
                <a:sym typeface="+mn-ea"/>
              </a:rPr>
              <a:t>。下一层解码器接收上一层更新的标记和更新的图像嵌入。 我们使用双层解码器。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5870" y="3943350"/>
            <a:ext cx="826135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（解码码器）</a:t>
            </a:r>
            <a:r>
              <a:rPr lang="en-US" altLang="zh-CN">
                <a:sym typeface="+mn-ea"/>
              </a:rPr>
              <a:t>-3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485" y="1472565"/>
            <a:ext cx="10515600" cy="2878455"/>
          </a:xfrm>
        </p:spPr>
        <p:txBody>
          <a:bodyPr>
            <a:normAutofit fontScale="90000"/>
          </a:bodyPr>
          <a:p>
            <a:r>
              <a:rPr lang="zh-CN" altLang="en-US"/>
              <a:t>深色的小框（双向</a:t>
            </a:r>
            <a:r>
              <a:rPr lang="en-US" altLang="zh-CN"/>
              <a:t>transformer</a:t>
            </a:r>
            <a:r>
              <a:rPr lang="zh-CN" altLang="en-US"/>
              <a:t>模块）这个模块首先通过一个自注意力层处理输入的</a:t>
            </a:r>
            <a:r>
              <a:rPr lang="en-US" altLang="zh-CN"/>
              <a:t>prompt</a:t>
            </a:r>
            <a:r>
              <a:rPr lang="zh-CN" altLang="en-US"/>
              <a:t>信息，然后输入到</a:t>
            </a:r>
            <a:r>
              <a:rPr lang="en-US" altLang="zh-CN"/>
              <a:t>token to image attention</a:t>
            </a:r>
            <a:r>
              <a:rPr lang="zh-CN" altLang="en-US"/>
              <a:t>中，</a:t>
            </a:r>
            <a:r>
              <a:rPr lang="en-US" altLang="zh-CN"/>
              <a:t>tokens</a:t>
            </a:r>
            <a:r>
              <a:rPr lang="zh-CN" altLang="en-US"/>
              <a:t>作为</a:t>
            </a:r>
            <a:r>
              <a:rPr lang="en-US" altLang="zh-CN"/>
              <a:t>q</a:t>
            </a:r>
            <a:r>
              <a:rPr lang="zh-CN" altLang="en-US"/>
              <a:t>去和图像特征做信息交换，然后输入到</a:t>
            </a:r>
            <a:r>
              <a:rPr lang="en-US" altLang="zh-CN"/>
              <a:t>mlp</a:t>
            </a:r>
            <a:r>
              <a:rPr lang="zh-CN" altLang="en-US"/>
              <a:t>中，此时</a:t>
            </a:r>
            <a:r>
              <a:rPr lang="en-US" altLang="zh-CN"/>
              <a:t>tokens</a:t>
            </a:r>
            <a:r>
              <a:rPr lang="zh-CN" altLang="en-US"/>
              <a:t>分为两路，一路就是这个子模块的输出的一部分，一路参与到</a:t>
            </a:r>
            <a:r>
              <a:rPr lang="en-US" altLang="zh-CN"/>
              <a:t>image to token attention</a:t>
            </a:r>
            <a:r>
              <a:rPr lang="zh-CN" altLang="en-US"/>
              <a:t>中，去更新</a:t>
            </a:r>
            <a:r>
              <a:rPr lang="en-US" altLang="zh-CN"/>
              <a:t>image embedding</a:t>
            </a:r>
            <a:r>
              <a:rPr lang="zh-CN" altLang="en-US"/>
              <a:t>，更新后的</a:t>
            </a:r>
            <a:r>
              <a:rPr lang="en-US" altLang="zh-CN"/>
              <a:t>image embedding</a:t>
            </a:r>
            <a:r>
              <a:rPr lang="zh-CN" altLang="en-US"/>
              <a:t>是输出的第二个部分。</a:t>
            </a:r>
            <a:endParaRPr lang="en-US" altLang="zh-CN"/>
          </a:p>
          <a:p>
            <a:r>
              <a:rPr lang="zh-CN" altLang="en-US"/>
              <a:t>这个过程重复两次，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0590" y="3566160"/>
            <a:ext cx="84963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模型拆解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（解码器）</a:t>
            </a:r>
            <a:r>
              <a:rPr lang="en-US" altLang="zh-CN">
                <a:sym typeface="+mn-ea"/>
              </a:rPr>
              <a:t>-4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330" y="1437640"/>
            <a:ext cx="10515600" cy="2878455"/>
          </a:xfrm>
        </p:spPr>
        <p:txBody>
          <a:bodyPr>
            <a:normAutofit fontScale="70000"/>
          </a:bodyPr>
          <a:p>
            <a:r>
              <a:rPr lang="zh-CN" altLang="en-US"/>
              <a:t>最后将得到的</a:t>
            </a:r>
            <a:r>
              <a:rPr lang="en-US" altLang="zh-CN"/>
              <a:t>image embedding</a:t>
            </a:r>
            <a:r>
              <a:rPr lang="zh-CN" altLang="en-US"/>
              <a:t>上采样，得到维度为</a:t>
            </a:r>
            <a:r>
              <a:rPr lang="en-US" altLang="zh-CN"/>
              <a:t>[emb,256,256]</a:t>
            </a:r>
            <a:r>
              <a:rPr lang="zh-CN" altLang="en-US"/>
              <a:t>的特征图，和得到的</a:t>
            </a:r>
            <a:r>
              <a:rPr lang="en-US" altLang="zh-CN"/>
              <a:t>output tokens</a:t>
            </a:r>
            <a:r>
              <a:rPr lang="zh-CN" altLang="en-US"/>
              <a:t>中预测</a:t>
            </a:r>
            <a:r>
              <a:rPr lang="en-US" altLang="zh-CN"/>
              <a:t>mask</a:t>
            </a:r>
            <a:r>
              <a:rPr lang="zh-CN" altLang="en-US"/>
              <a:t>的部分相乘，得到最后的</a:t>
            </a:r>
            <a:r>
              <a:rPr lang="en-US" altLang="zh-CN"/>
              <a:t>mask</a:t>
            </a:r>
            <a:r>
              <a:rPr lang="zh-CN" altLang="en-US"/>
              <a:t>。对于</a:t>
            </a:r>
            <a:r>
              <a:rPr lang="en-US" altLang="zh-CN"/>
              <a:t>tokens</a:t>
            </a:r>
            <a:r>
              <a:rPr lang="zh-CN" altLang="en-US"/>
              <a:t>，在经历过两次这个重复过程中之后还会经过一个</a:t>
            </a:r>
            <a:r>
              <a:rPr lang="en-US" altLang="zh-CN"/>
              <a:t>token to image attention</a:t>
            </a:r>
            <a:r>
              <a:rPr lang="zh-CN" altLang="en-US"/>
              <a:t>，然后我们根据需求分别取出</a:t>
            </a:r>
            <a:r>
              <a:rPr lang="en-US" altLang="zh-CN"/>
              <a:t>output tonkens</a:t>
            </a:r>
            <a:r>
              <a:rPr lang="zh-CN" altLang="en-US"/>
              <a:t>中需要的部分，将预测</a:t>
            </a:r>
            <a:r>
              <a:rPr lang="en-US" altLang="zh-CN"/>
              <a:t>mask</a:t>
            </a:r>
            <a:r>
              <a:rPr lang="zh-CN" altLang="en-US"/>
              <a:t>的序列分别经过一个</a:t>
            </a:r>
            <a:r>
              <a:rPr lang="en-US" altLang="zh-CN"/>
              <a:t>mlp</a:t>
            </a:r>
            <a:r>
              <a:rPr lang="zh-CN" altLang="en-US"/>
              <a:t>层，将预测</a:t>
            </a:r>
            <a:r>
              <a:rPr lang="en-US" altLang="zh-CN"/>
              <a:t>IoU scores</a:t>
            </a:r>
            <a:r>
              <a:rPr lang="zh-CN" altLang="en-US"/>
              <a:t>的那个序列经过一个</a:t>
            </a:r>
            <a:r>
              <a:rPr lang="en-US" altLang="zh-CN"/>
              <a:t>mlp</a:t>
            </a:r>
            <a:r>
              <a:rPr lang="zh-CN" altLang="en-US"/>
              <a:t>预测四个</a:t>
            </a:r>
            <a:r>
              <a:rPr lang="en-US" altLang="zh-CN"/>
              <a:t>IoU scores</a:t>
            </a:r>
            <a:r>
              <a:rPr lang="zh-CN" altLang="en-US"/>
              <a:t>，然后根据需求去除需要的那个</a:t>
            </a:r>
            <a:r>
              <a:rPr lang="en-US" altLang="zh-CN"/>
              <a:t>Iou score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但此时，我们注意到得到的</a:t>
            </a:r>
            <a:r>
              <a:rPr lang="en-US" altLang="zh-CN"/>
              <a:t>mask</a:t>
            </a:r>
            <a:r>
              <a:rPr lang="zh-CN" altLang="en-US"/>
              <a:t>尺寸是</a:t>
            </a:r>
            <a:r>
              <a:rPr lang="en-US" altLang="zh-CN"/>
              <a:t>[4,256,256]</a:t>
            </a:r>
            <a:r>
              <a:rPr lang="zh-CN" altLang="en-US"/>
              <a:t>，但我们输入的原始图像是</a:t>
            </a:r>
            <a:r>
              <a:rPr lang="en-US" altLang="zh-CN"/>
              <a:t>[3,1024,1024]</a:t>
            </a:r>
            <a:r>
              <a:rPr lang="zh-CN" altLang="en-US"/>
              <a:t>，</a:t>
            </a:r>
            <a:r>
              <a:rPr lang="en-US" altLang="zh-CN"/>
              <a:t>SAM</a:t>
            </a:r>
            <a:r>
              <a:rPr lang="zh-CN" altLang="en-US"/>
              <a:t>会通过一个后处理操作将</a:t>
            </a:r>
            <a:r>
              <a:rPr lang="en-US" altLang="zh-CN"/>
              <a:t>mask</a:t>
            </a:r>
            <a:r>
              <a:rPr lang="zh-CN" altLang="en-US"/>
              <a:t>变换到</a:t>
            </a:r>
            <a:r>
              <a:rPr lang="en-US" altLang="zh-CN"/>
              <a:t>[1024,1024]</a:t>
            </a:r>
            <a:r>
              <a:rPr lang="zh-CN" altLang="en-US"/>
              <a:t>的大小去得到最终的分割结果。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790" y="3771900"/>
            <a:ext cx="828675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模型训练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330" y="1437640"/>
            <a:ext cx="10515600" cy="2878455"/>
          </a:xfrm>
        </p:spPr>
        <p:txBody>
          <a:bodyPr>
            <a:normAutofit/>
          </a:bodyPr>
          <a:p>
            <a:r>
              <a:rPr lang="en-US"/>
              <a:t>1</a:t>
            </a:r>
            <a:r>
              <a:rPr lang="zh-CN" altLang="en-US"/>
              <a:t>、损失函数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预测阶段中，对于每个提示，模型会并行输出</a:t>
            </a:r>
            <a:r>
              <a:rPr lang="en-US" altLang="zh-CN"/>
              <a:t> N </a:t>
            </a:r>
            <a:r>
              <a:rPr lang="zh-CN" altLang="en-US"/>
              <a:t>个掩码（论文中默认</a:t>
            </a:r>
            <a:r>
              <a:rPr lang="en-US" altLang="zh-CN"/>
              <a:t> N=3</a:t>
            </a:r>
            <a:r>
              <a:rPr lang="zh-CN" altLang="en-US"/>
              <a:t>）以及</a:t>
            </a:r>
            <a:r>
              <a:rPr lang="en-US" altLang="zh-CN"/>
              <a:t> N </a:t>
            </a:r>
            <a:r>
              <a:rPr lang="zh-CN" altLang="en-US"/>
              <a:t>个对应的置信度分数（预测的掩码</a:t>
            </a:r>
            <a:r>
              <a:rPr lang="en-US" altLang="zh-CN"/>
              <a:t>-</a:t>
            </a:r>
            <a:r>
              <a:rPr lang="zh-CN" altLang="en-US"/>
              <a:t>物体</a:t>
            </a:r>
            <a:r>
              <a:rPr lang="en-US" altLang="zh-CN"/>
              <a:t>IoU</a:t>
            </a:r>
            <a:r>
              <a:rPr lang="zh-CN" altLang="en-US"/>
              <a:t>）。同时，模型还会输出第</a:t>
            </a:r>
            <a:r>
              <a:rPr lang="en-US" altLang="zh-CN"/>
              <a:t> N+1 </a:t>
            </a:r>
            <a:r>
              <a:rPr lang="zh-CN" altLang="en-US"/>
              <a:t>个掩码，这个掩码专门用于处理非模糊（多提示）</a:t>
            </a:r>
            <a:r>
              <a:rPr lang="en-US" altLang="zh-CN"/>
              <a:t> </a:t>
            </a:r>
            <a:r>
              <a:rPr lang="zh-CN" altLang="en-US"/>
              <a:t>的情况。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模型部署及效果展示</a:t>
            </a:r>
            <a:r>
              <a:rPr lang="en-US" altLang="zh-CN"/>
              <a:t>--github</a:t>
            </a:r>
            <a:r>
              <a:rPr lang="zh-CN" altLang="en-US"/>
              <a:t>上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参考的部署代码：</a:t>
            </a:r>
            <a:r>
              <a:rPr lang="en-US" altLang="zh-CN"/>
              <a:t>https://devpress.csdn.net/wuhan/64b78d23813b05242dfd72d7.html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9390" y="190500"/>
            <a:ext cx="1021270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latin typeface="Roboto"/>
                <a:ea typeface="Roboto"/>
              </a:rPr>
              <a:t>Patch Embedding</a:t>
            </a:r>
            <a:r>
              <a:rPr lang="en-US" altLang="zh-CN" sz="1600" b="0" i="0">
                <a:latin typeface="Roboto"/>
                <a:ea typeface="Roboto"/>
              </a:rPr>
              <a:t> </a:t>
            </a:r>
            <a:r>
              <a:rPr lang="zh-CN" altLang="en-US" sz="1600" b="0" i="0">
                <a:latin typeface="Roboto"/>
                <a:ea typeface="Roboto"/>
              </a:rPr>
              <a:t>是一种在</a:t>
            </a:r>
            <a:r>
              <a:rPr lang="en-US" altLang="zh-CN" sz="1600" b="0" i="0">
                <a:latin typeface="Roboto"/>
                <a:ea typeface="Roboto"/>
              </a:rPr>
              <a:t> Transformer </a:t>
            </a:r>
            <a:r>
              <a:rPr lang="zh-CN" altLang="en-US" sz="1600" b="0" i="0">
                <a:latin typeface="Roboto"/>
                <a:ea typeface="Roboto"/>
              </a:rPr>
              <a:t>模型中使用的技术，主要用于将图像分割成小块（</a:t>
            </a:r>
            <a:r>
              <a:rPr lang="en-US" altLang="zh-CN" sz="1600" b="0" i="0">
                <a:latin typeface="Roboto"/>
                <a:ea typeface="Roboto"/>
              </a:rPr>
              <a:t>patches</a:t>
            </a:r>
            <a:r>
              <a:rPr lang="zh-CN" altLang="en-US" sz="1600" b="0" i="0">
                <a:latin typeface="Roboto"/>
                <a:ea typeface="Roboto"/>
              </a:rPr>
              <a:t>），并将每个小块转换为固定维度的向量。其基本思想是将图像分割成小块，然后通过线性变换（如全连接层）将每个小块的像素值转换为向量。</a:t>
            </a:r>
            <a:endParaRPr lang="zh-CN" altLang="en-US" sz="1600" b="0" i="0">
              <a:latin typeface="Roboto"/>
              <a:ea typeface="Roboto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9390" y="1846580"/>
            <a:ext cx="10447655" cy="35179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为了确保解码器能够获得关键的几何信息，只要它们参与了注意力层，位置编码就会被添加到图像嵌入中。 此外，只要它们参与了注意力层，整个原始提示标记（包括其位置编码）就会被重新添加到更新的标记中。这使得提示标记的几何位置和类型都具有很强的依赖性。</a:t>
            </a:r>
            <a:endParaRPr lang="zh-CN" altLang="en-US" sz="1600" b="0" i="0">
              <a:solidFill>
                <a:srgbClr val="191B1F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运行解码器后，我们用两个转置卷积层对更新后的图像嵌入进行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4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倍增样（现在相对于输入图像缩小了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4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倍）。 然后，令牌再次参加图像嵌入，我们将更新后的输出令牌嵌入传递给一个小型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3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层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MLP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，该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MLP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输出一个与放大图像嵌入的通道维度相匹配的向量。最后，我们用放大图像嵌入和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MLP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输出之间的空间点积来预测掩码。</a:t>
            </a:r>
            <a:endParaRPr lang="zh-CN" altLang="en-US" sz="1600" b="0" i="0">
              <a:solidFill>
                <a:srgbClr val="191B1F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400"/>
              </a:spcBef>
              <a:spcAft>
                <a:spcPts val="1400"/>
              </a:spcAft>
            </a:pP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转换器使用的嵌入维度为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256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。 转换器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MLP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块的内部维度较大，为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2048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，但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MLP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仅应用于提示令牌，而提示令牌的数量相对较少（很少超过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20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个）。不过，在交叉注意层中，我们有一个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64×64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的图像嵌入，为了提高计算效率，我们将查询、键和值的通道维度减少了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倍，为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128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。所有注意力层都使用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8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个头，用于放大输出图像嵌入的转置卷积为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2×2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，步长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，输出通道维度分别为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64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和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32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，并具有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GELU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激活。它们通过层归一化分开。</a:t>
            </a:r>
            <a:endParaRPr lang="zh-CN" altLang="en-US" sz="1600" b="0" i="0">
              <a:solidFill>
                <a:srgbClr val="191B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6511</Words>
  <Application>WPS 演示</Application>
  <PresentationFormat>宽屏</PresentationFormat>
  <Paragraphs>157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-apple-system</vt:lpstr>
      <vt:lpstr>Segoe Print</vt:lpstr>
      <vt:lpstr>Calibri</vt:lpstr>
      <vt:lpstr>微软雅黑</vt:lpstr>
      <vt:lpstr>Arial Unicode MS</vt:lpstr>
      <vt:lpstr>Roboto</vt:lpstr>
      <vt:lpstr>Times New Roman</vt:lpstr>
      <vt:lpstr>WPS</vt:lpstr>
      <vt:lpstr>Segment Anything Model </vt:lpstr>
      <vt:lpstr>摘要概括版</vt:lpstr>
      <vt:lpstr>论文核心贡献</vt:lpstr>
      <vt:lpstr>1、任务创新</vt:lpstr>
      <vt:lpstr>2、模型创新（本部分创新较少）</vt:lpstr>
      <vt:lpstr>3、数据创新</vt:lpstr>
      <vt:lpstr>3、数据创新</vt:lpstr>
      <vt:lpstr>3、数据创新</vt:lpstr>
      <vt:lpstr>3、数据创新</vt:lpstr>
      <vt:lpstr>模型拆解</vt:lpstr>
      <vt:lpstr>模型拆解---（1、图像编码器）</vt:lpstr>
      <vt:lpstr>模型拆解---（1、图像编码器）</vt:lpstr>
      <vt:lpstr>模型拆解---（1、图像编码器）</vt:lpstr>
      <vt:lpstr>模型拆解---（2、提示编码器）</vt:lpstr>
      <vt:lpstr>模型拆解---（3、解码码器）-1</vt:lpstr>
      <vt:lpstr>模型拆解---（解码码器）-2</vt:lpstr>
      <vt:lpstr>模型拆解---（解码码器）-3</vt:lpstr>
      <vt:lpstr>模型拆解---（解码器）-4</vt:lpstr>
      <vt:lpstr>模型训练</vt:lpstr>
      <vt:lpstr>模型部署及效果展示--github上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陈潆潆</dc:creator>
  <cp:lastModifiedBy>陈潆潆</cp:lastModifiedBy>
  <cp:revision>14</cp:revision>
  <dcterms:created xsi:type="dcterms:W3CDTF">2023-08-09T12:44:00Z</dcterms:created>
  <dcterms:modified xsi:type="dcterms:W3CDTF">2026-01-14T07:11:59Z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BB78E6D5DB7644B99B9F7560A2BBFB60_12</vt:lpwstr>
  </property>
</Properties>
</file>