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3"/>
    <p:sldId id="258" r:id="rId4"/>
    <p:sldId id="257" r:id="rId5"/>
    <p:sldId id="262" r:id="rId6"/>
    <p:sldId id="279" r:id="rId7"/>
    <p:sldId id="280" r:id="rId8"/>
    <p:sldId id="283" r:id="rId9"/>
    <p:sldId id="28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38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00"/>
        <p:guide pos="389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842010"/>
            <a:ext cx="12219940" cy="2477770"/>
          </a:xfrm>
        </p:spPr>
        <p:txBody>
          <a:bodyPr>
            <a:normAutofit fontScale="90000"/>
          </a:bodyPr>
          <a:p>
            <a:r>
              <a:rPr lang="en-US" altLang="zh-CN"/>
              <a:t>An image is worth 16*16</a:t>
            </a:r>
            <a:br>
              <a:rPr lang="en-US" altLang="zh-CN"/>
            </a:br>
            <a:r>
              <a:rPr lang="en-US" altLang="zh-CN"/>
              <a:t> words: Transformers for Image Recognition at scale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40773"/>
            <a:ext cx="9144000" cy="1655762"/>
          </a:xfrm>
        </p:spPr>
        <p:txBody>
          <a:bodyPr/>
          <a:p>
            <a:r>
              <a:rPr lang="en-US" altLang="zh-CN"/>
              <a:t>2026.1.12-1.18</a:t>
            </a:r>
            <a:endParaRPr lang="en-US" altLang="zh-CN"/>
          </a:p>
          <a:p>
            <a:r>
              <a:rPr lang="zh-CN" altLang="en-US"/>
              <a:t>周报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807845" y="4933315"/>
            <a:ext cx="87350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论文原文地址：</a:t>
            </a:r>
            <a:r>
              <a:rPr lang="en-US" altLang="zh-CN"/>
              <a:t>https://arxiv.org/pdf/2010.11929</a:t>
            </a:r>
            <a:endParaRPr lang="en-US" altLang="zh-CN"/>
          </a:p>
          <a:p>
            <a:r>
              <a:rPr lang="zh-CN" altLang="en-US"/>
              <a:t>论文项目</a:t>
            </a:r>
            <a:r>
              <a:rPr lang="en-US" altLang="zh-CN"/>
              <a:t>github</a:t>
            </a:r>
            <a:r>
              <a:rPr lang="zh-CN" altLang="en-US"/>
              <a:t>地址：</a:t>
            </a:r>
            <a:r>
              <a:rPr lang="en-US" altLang="zh-CN"/>
              <a:t>https://github.com/google-research/vision_transformer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60730" y="60737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模型部署笔记代码在个人</a:t>
            </a:r>
            <a:r>
              <a:rPr lang="en-US" altLang="zh-CN"/>
              <a:t>github</a:t>
            </a:r>
            <a:r>
              <a:rPr lang="zh-CN" altLang="en-US"/>
              <a:t>仓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论文核心贡献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066290"/>
            <a:ext cx="10515600" cy="1177290"/>
          </a:xfrm>
        </p:spPr>
        <p:txBody>
          <a:bodyPr>
            <a:normAutofit fontScale="90000"/>
          </a:bodyPr>
          <a:p>
            <a:r>
              <a:rPr lang="en-US" altLang="zh-CN"/>
              <a:t>1</a:t>
            </a:r>
            <a:r>
              <a:rPr lang="zh-CN" altLang="en-US"/>
              <a:t>、模型思想简单：图像按照</a:t>
            </a:r>
            <a:r>
              <a:rPr lang="en-US" altLang="zh-CN"/>
              <a:t>16*16</a:t>
            </a:r>
            <a:r>
              <a:rPr lang="zh-CN" altLang="en-US"/>
              <a:t>拆分成块</a:t>
            </a:r>
            <a:r>
              <a:rPr lang="en-US" altLang="zh-CN"/>
              <a:t> + </a:t>
            </a:r>
            <a:r>
              <a:rPr lang="zh-CN" altLang="en-US"/>
              <a:t>位置编码</a:t>
            </a:r>
            <a:r>
              <a:rPr lang="en-US" altLang="zh-CN"/>
              <a:t> + transformer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、模型的预训练效果好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论文结论概括版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70355"/>
            <a:ext cx="10515600" cy="3811905"/>
          </a:xfrm>
        </p:spPr>
        <p:txBody>
          <a:bodyPr>
            <a:normAutofit fontScale="80000"/>
          </a:bodyPr>
          <a:p>
            <a:r>
              <a:rPr lang="zh-CN" altLang="en-US"/>
              <a:t>提出：</a:t>
            </a:r>
            <a:r>
              <a:rPr lang="en-US" altLang="zh-CN"/>
              <a:t>Vision Transformer (VIT) </a:t>
            </a:r>
            <a:r>
              <a:rPr lang="zh-CN" altLang="en-US"/>
              <a:t>项目</a:t>
            </a:r>
            <a:endParaRPr lang="zh-CN" altLang="en-US"/>
          </a:p>
          <a:p>
            <a:r>
              <a:rPr lang="zh-CN" altLang="en-US"/>
              <a:t>优势：</a:t>
            </a:r>
            <a:endParaRPr lang="zh-CN" altLang="en-US"/>
          </a:p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、开创了</a:t>
            </a:r>
            <a:r>
              <a:rPr lang="zh-CN" altLang="en-US">
                <a:sym typeface="+mn-ea"/>
              </a:rPr>
              <a:t>在尽量不改变</a:t>
            </a:r>
            <a:r>
              <a:rPr lang="en-US" altLang="zh-CN">
                <a:sym typeface="+mn-ea"/>
              </a:rPr>
              <a:t>Transformer</a:t>
            </a:r>
            <a:r>
              <a:rPr lang="zh-CN" altLang="en-US">
                <a:sym typeface="+mn-ea"/>
              </a:rPr>
              <a:t>架构的前提下，使用图片作为模型的输入，得出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通用的</a:t>
            </a:r>
            <a:r>
              <a:rPr lang="en-US" altLang="zh-CN">
                <a:sym typeface="+mn-ea"/>
              </a:rPr>
              <a:t>CV</a:t>
            </a:r>
            <a:r>
              <a:rPr lang="zh-CN" altLang="en-US">
                <a:sym typeface="+mn-ea"/>
              </a:rPr>
              <a:t>模型。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、打破</a:t>
            </a:r>
            <a:r>
              <a:rPr lang="en-US" altLang="zh-CN"/>
              <a:t>CNN</a:t>
            </a:r>
            <a:r>
              <a:rPr lang="zh-CN" altLang="en-US"/>
              <a:t>的统治，数据在</a:t>
            </a:r>
            <a:r>
              <a:rPr lang="zh-CN" altLang="en-US">
                <a:solidFill>
                  <a:srgbClr val="FF0000"/>
                </a:solidFill>
              </a:rPr>
              <a:t>分类</a:t>
            </a:r>
            <a:r>
              <a:rPr lang="zh-CN" altLang="en-US"/>
              <a:t>数据集上做测试，发现</a:t>
            </a:r>
            <a:r>
              <a:rPr lang="zh-CN" altLang="en-US">
                <a:solidFill>
                  <a:srgbClr val="FF0000"/>
                </a:solidFill>
              </a:rPr>
              <a:t>分类</a:t>
            </a:r>
            <a:r>
              <a:rPr lang="zh-CN" altLang="en-US"/>
              <a:t>效果超过</a:t>
            </a:r>
            <a:r>
              <a:rPr lang="en-US" altLang="zh-CN"/>
              <a:t>CNN</a:t>
            </a:r>
            <a:r>
              <a:rPr lang="zh-CN" altLang="en-US"/>
              <a:t>最好的模型。</a:t>
            </a:r>
            <a:endParaRPr lang="zh-CN" altLang="en-US"/>
          </a:p>
          <a:p>
            <a:r>
              <a:rPr lang="zh-CN" altLang="en-US"/>
              <a:t>劣势：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VIT</a:t>
            </a:r>
            <a:r>
              <a:rPr lang="zh-CN" altLang="en-US"/>
              <a:t>只证明了分类领域是好的，但是分割和检测方向并没有进行测试。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transformer</a:t>
            </a:r>
            <a:r>
              <a:rPr lang="zh-CN" altLang="en-US"/>
              <a:t>都是无监督训练的，但是</a:t>
            </a:r>
            <a:r>
              <a:rPr lang="en-US" altLang="zh-CN"/>
              <a:t>vit</a:t>
            </a:r>
            <a:r>
              <a:rPr lang="zh-CN" altLang="en-US"/>
              <a:t>是有监督训练的，还待完善。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66090" y="5382260"/>
            <a:ext cx="10276840" cy="998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>
                <a:sym typeface="+mn-ea"/>
              </a:rPr>
              <a:t>         </a:t>
            </a:r>
            <a:r>
              <a:rPr lang="zh-CN" altLang="en-US" sz="1600">
                <a:sym typeface="+mn-ea"/>
              </a:rPr>
              <a:t>在</a:t>
            </a:r>
            <a:r>
              <a:rPr lang="en-US" altLang="zh-CN" sz="1600">
                <a:sym typeface="+mn-ea"/>
              </a:rPr>
              <a:t>transformer</a:t>
            </a:r>
            <a:r>
              <a:rPr lang="zh-CN" altLang="en-US" sz="1600">
                <a:sym typeface="+mn-ea"/>
              </a:rPr>
              <a:t>中的</a:t>
            </a:r>
            <a:r>
              <a:rPr lang="zh-CN" sz="1600">
                <a:sym typeface="+mn-ea"/>
              </a:rPr>
              <a:t>有监督和无监督怎么理解，比如</a:t>
            </a:r>
            <a:r>
              <a:rPr lang="en-US" altLang="zh-CN" sz="1600">
                <a:sym typeface="+mn-ea"/>
              </a:rPr>
              <a:t>BERT</a:t>
            </a:r>
            <a:r>
              <a:rPr lang="zh-CN" altLang="en-US" sz="1600">
                <a:sym typeface="+mn-ea"/>
              </a:rPr>
              <a:t>就是类似完形填空，给定一个句子之后，选择随机几个挖掉，然后模型去猜测挖掉的内容是什么，比如</a:t>
            </a:r>
            <a:r>
              <a:rPr lang="en-US" altLang="zh-CN" sz="1600">
                <a:sym typeface="+mn-ea"/>
              </a:rPr>
              <a:t>GPT</a:t>
            </a:r>
            <a:r>
              <a:rPr lang="zh-CN" altLang="en-US" sz="1600">
                <a:sym typeface="+mn-ea"/>
              </a:rPr>
              <a:t>就是预测下一个字，给定一个句子，给第一个字预测第二字，</a:t>
            </a:r>
            <a:r>
              <a:rPr lang="zh-CN" altLang="en-US" sz="1600">
                <a:sym typeface="+mn-ea"/>
              </a:rPr>
              <a:t>给第二个字预测第三字，以此类推。那么在图像中的应用也可以类比这样的形式，但是这篇文章并没有训练出这样的结果，只能通过有监督的方式在分类任务上获得比较好的结果。</a:t>
            </a:r>
            <a:endParaRPr lang="zh-CN" altLang="en-US" sz="160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015" y="353060"/>
            <a:ext cx="11135360" cy="65049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模型拆解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0"/>
            <a:ext cx="7802880" cy="45580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模型拆解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8285" y="4477385"/>
            <a:ext cx="11589385" cy="2082165"/>
          </a:xfrm>
        </p:spPr>
        <p:txBody>
          <a:bodyPr>
            <a:noAutofit/>
          </a:bodyPr>
          <a:p>
            <a:r>
              <a:rPr lang="en-US" altLang="zh-CN" sz="2000"/>
              <a:t>1</a:t>
            </a:r>
            <a:r>
              <a:rPr lang="zh-CN" altLang="en-US" sz="2000"/>
              <a:t>、</a:t>
            </a:r>
            <a:r>
              <a:rPr lang="en-US" altLang="zh-CN" sz="2000"/>
              <a:t>patch embedding</a:t>
            </a:r>
            <a:r>
              <a:rPr lang="zh-CN" altLang="en-US" sz="2000"/>
              <a:t>：输入图像为</a:t>
            </a:r>
            <a:r>
              <a:rPr lang="en-US" altLang="zh-CN" sz="2000">
                <a:solidFill>
                  <a:srgbClr val="FF0000"/>
                </a:solidFill>
              </a:rPr>
              <a:t>[3,224,224]</a:t>
            </a:r>
            <a:r>
              <a:rPr lang="zh-CN" altLang="en-US" sz="2000"/>
              <a:t>，</a:t>
            </a:r>
            <a:r>
              <a:rPr lang="en-US" altLang="zh-CN" sz="2000"/>
              <a:t>3</a:t>
            </a:r>
            <a:r>
              <a:rPr lang="zh-CN" altLang="en-US" sz="2000"/>
              <a:t>代表通道，</a:t>
            </a:r>
            <a:r>
              <a:rPr lang="en-US" altLang="zh-CN" sz="2000"/>
              <a:t>H,W</a:t>
            </a:r>
            <a:r>
              <a:rPr lang="zh-CN" altLang="en-US" sz="2000"/>
              <a:t>，然后按照</a:t>
            </a:r>
            <a:r>
              <a:rPr lang="en-US" altLang="zh-CN" sz="2000"/>
              <a:t>16*16</a:t>
            </a:r>
            <a:r>
              <a:rPr lang="zh-CN" altLang="en-US" sz="2000"/>
              <a:t>大小，将原始的图片进行分割，一共会分割出</a:t>
            </a:r>
            <a:r>
              <a:rPr lang="en-US" altLang="zh-CN" sz="2000"/>
              <a:t>14*14=196</a:t>
            </a:r>
            <a:r>
              <a:rPr lang="zh-CN" altLang="en-US" sz="2000"/>
              <a:t>个小的图像块，这里的每一个图像块，看成</a:t>
            </a:r>
            <a:r>
              <a:rPr lang="en-US" altLang="zh-CN" sz="2000"/>
              <a:t>nlp</a:t>
            </a:r>
            <a:r>
              <a:rPr lang="zh-CN" altLang="en-US" sz="2000"/>
              <a:t>中的</a:t>
            </a:r>
            <a:r>
              <a:rPr lang="en-US" altLang="zh-CN" sz="2000"/>
              <a:t>token</a:t>
            </a:r>
            <a:r>
              <a:rPr lang="zh-CN" altLang="en-US" sz="2000"/>
              <a:t>。相当于一张图片被改成了具有</a:t>
            </a:r>
            <a:r>
              <a:rPr lang="en-US" altLang="zh-CN" sz="2000"/>
              <a:t>196</a:t>
            </a:r>
            <a:r>
              <a:rPr lang="zh-CN" altLang="en-US" sz="2000"/>
              <a:t>个</a:t>
            </a:r>
            <a:r>
              <a:rPr lang="en-US" altLang="zh-CN" sz="2000"/>
              <a:t>token</a:t>
            </a:r>
            <a:r>
              <a:rPr lang="zh-CN" altLang="en-US" sz="2000"/>
              <a:t>，每个</a:t>
            </a:r>
            <a:r>
              <a:rPr lang="en-US" altLang="zh-CN" sz="2000"/>
              <a:t>token</a:t>
            </a:r>
            <a:r>
              <a:rPr lang="zh-CN" altLang="en-US" sz="2000"/>
              <a:t>的维度是</a:t>
            </a:r>
            <a:r>
              <a:rPr lang="en-US" altLang="zh-CN" sz="2000"/>
              <a:t>16*16*=768</a:t>
            </a:r>
            <a:r>
              <a:rPr lang="zh-CN" altLang="en-US" sz="2000"/>
              <a:t>维。在这一步输出为</a:t>
            </a:r>
            <a:r>
              <a:rPr lang="en-US" altLang="zh-CN" sz="2000">
                <a:solidFill>
                  <a:srgbClr val="FF0000"/>
                </a:solidFill>
              </a:rPr>
              <a:t>[196*768]</a:t>
            </a:r>
            <a:r>
              <a:rPr lang="zh-CN" altLang="en-US" sz="2000">
                <a:solidFill>
                  <a:srgbClr val="FF0000"/>
                </a:solidFill>
              </a:rPr>
              <a:t>。</a:t>
            </a:r>
            <a:endParaRPr lang="en-US" altLang="zh-CN" sz="2000">
              <a:solidFill>
                <a:srgbClr val="FF0000"/>
              </a:solidFill>
            </a:endParaRPr>
          </a:p>
          <a:p>
            <a:r>
              <a:rPr lang="en-US" altLang="zh-CN" sz="2000"/>
              <a:t>2</a:t>
            </a:r>
            <a:r>
              <a:rPr lang="zh-CN" altLang="en-US" sz="2000"/>
              <a:t>、线性投影层：（就是全连接层），这个全连接层是可学习的，维度为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[768*768]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，这两个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768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有所不同，前一个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768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是图像固定处理之后就是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768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，但是后一个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768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可以随着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transformer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的大小进行变化，如果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transformer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架构大一点的话，那么全连接层可以变成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[768,1024]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，这样每个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token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的维度就会增大。其实前一个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768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也是可以变动的，因为前一个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768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是因为我们选择的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patch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为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16*16,</a:t>
            </a:r>
            <a:endParaRPr lang="zh-CN" altLang="en-US" sz="20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9735" y="0"/>
            <a:ext cx="6964680" cy="406844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模型拆解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6215" y="4258945"/>
            <a:ext cx="11589385" cy="2082165"/>
          </a:xfrm>
        </p:spPr>
        <p:txBody>
          <a:bodyPr>
            <a:noAutofit/>
          </a:bodyPr>
          <a:p>
            <a:r>
              <a:rPr lang="en-US" altLang="zh-CN" sz="1800"/>
              <a:t>3</a:t>
            </a:r>
            <a:r>
              <a:rPr lang="zh-CN" altLang="en-US" sz="1800"/>
              <a:t>、</a:t>
            </a:r>
            <a:r>
              <a:rPr lang="en-US" altLang="zh-CN" sz="1800"/>
              <a:t>position embedding</a:t>
            </a:r>
            <a:r>
              <a:rPr lang="zh-CN" altLang="en-US" sz="1800"/>
              <a:t>：这个位置编码是可学习的并且用的是和</a:t>
            </a:r>
            <a:r>
              <a:rPr lang="en-US" altLang="zh-CN" sz="1800"/>
              <a:t>bert</a:t>
            </a:r>
            <a:r>
              <a:rPr lang="zh-CN" altLang="en-US" sz="1800"/>
              <a:t>中一样的</a:t>
            </a:r>
            <a:r>
              <a:rPr lang="en-US" altLang="zh-CN" sz="1800"/>
              <a:t>[1</a:t>
            </a:r>
            <a:r>
              <a:rPr lang="zh-CN" altLang="en-US" sz="1800"/>
              <a:t>，</a:t>
            </a:r>
            <a:r>
              <a:rPr lang="en-US" altLang="zh-CN" sz="1800"/>
              <a:t>768]</a:t>
            </a:r>
            <a:r>
              <a:rPr lang="zh-CN" altLang="en-US" sz="1800"/>
              <a:t>，</a:t>
            </a:r>
            <a:r>
              <a:rPr lang="zh-CN" altLang="en-US" sz="1800">
                <a:sym typeface="+mn-ea"/>
              </a:rPr>
              <a:t>在位置编码后，由于我们最终输出的是分类任务，所以这里额外引入了一个新的</a:t>
            </a:r>
            <a:r>
              <a:rPr lang="en-US" altLang="zh-CN" sz="1800">
                <a:sym typeface="+mn-ea"/>
              </a:rPr>
              <a:t>token</a:t>
            </a:r>
            <a:r>
              <a:rPr lang="zh-CN" altLang="en-US" sz="1800">
                <a:sym typeface="+mn-ea"/>
              </a:rPr>
              <a:t>，这个</a:t>
            </a:r>
            <a:r>
              <a:rPr lang="en-US" altLang="zh-CN" sz="1800">
                <a:sym typeface="+mn-ea"/>
              </a:rPr>
              <a:t>token</a:t>
            </a:r>
            <a:r>
              <a:rPr lang="zh-CN" altLang="en-US" sz="1800">
                <a:sym typeface="+mn-ea"/>
              </a:rPr>
              <a:t>又叫做</a:t>
            </a:r>
            <a:r>
              <a:rPr lang="en-US" altLang="zh-CN" sz="1800">
                <a:sym typeface="+mn-ea"/>
              </a:rPr>
              <a:t>cls token</a:t>
            </a:r>
            <a:r>
              <a:rPr lang="zh-CN" altLang="en-US" sz="1800">
                <a:sym typeface="+mn-ea"/>
              </a:rPr>
              <a:t>，这样代表最后让进入</a:t>
            </a:r>
            <a:r>
              <a:rPr lang="en-US" altLang="zh-CN" sz="1800">
                <a:sym typeface="+mn-ea"/>
              </a:rPr>
              <a:t>transformer encoder</a:t>
            </a:r>
            <a:r>
              <a:rPr lang="zh-CN" altLang="en-US" sz="1800">
                <a:sym typeface="+mn-ea"/>
              </a:rPr>
              <a:t>这个的输入是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[197,768]</a:t>
            </a:r>
            <a:r>
              <a:rPr lang="zh-CN" altLang="en-US" sz="1800">
                <a:sym typeface="+mn-ea"/>
              </a:rPr>
              <a:t>。</a:t>
            </a:r>
            <a:endParaRPr lang="zh-CN" altLang="en-US" sz="1800"/>
          </a:p>
          <a:p>
            <a:r>
              <a:rPr lang="en-US" altLang="zh-CN" sz="1800"/>
              <a:t>4</a:t>
            </a:r>
            <a:r>
              <a:rPr lang="zh-CN" altLang="en-US" sz="1800"/>
              <a:t>、</a:t>
            </a:r>
            <a:r>
              <a:rPr lang="en-US" altLang="zh-CN" sz="1800"/>
              <a:t>transformer encoder</a:t>
            </a:r>
            <a:r>
              <a:rPr lang="zh-CN" altLang="en-US" sz="1800"/>
              <a:t>：</a:t>
            </a:r>
            <a:r>
              <a:rPr lang="en-US" altLang="zh-CN" sz="1800"/>
              <a:t>1</a:t>
            </a:r>
            <a:r>
              <a:rPr lang="zh-CN" altLang="en-US" sz="1800"/>
              <a:t>个</a:t>
            </a:r>
            <a:r>
              <a:rPr lang="en-US" altLang="zh-CN" sz="1800"/>
              <a:t>token</a:t>
            </a:r>
            <a:r>
              <a:rPr lang="zh-CN" altLang="en-US" sz="1800"/>
              <a:t>的向量维度是</a:t>
            </a:r>
            <a:r>
              <a:rPr lang="en-US" altLang="zh-CN" sz="1800">
                <a:sym typeface="+mn-ea"/>
              </a:rPr>
              <a:t>768</a:t>
            </a:r>
            <a:r>
              <a:rPr lang="zh-CN" altLang="en-US" sz="1800">
                <a:sym typeface="+mn-ea"/>
              </a:rPr>
              <a:t>，自注意力就是自己关注自己身上的一些信息，对于每个</a:t>
            </a:r>
            <a:r>
              <a:rPr lang="en-US" altLang="zh-CN" sz="1800">
                <a:sym typeface="+mn-ea"/>
              </a:rPr>
              <a:t>token</a:t>
            </a:r>
            <a:r>
              <a:rPr lang="zh-CN" altLang="en-US" sz="1800">
                <a:sym typeface="+mn-ea"/>
              </a:rPr>
              <a:t>来说，有</a:t>
            </a:r>
            <a:r>
              <a:rPr lang="en-US" altLang="zh-CN" sz="1800">
                <a:sym typeface="+mn-ea"/>
              </a:rPr>
              <a:t>768</a:t>
            </a:r>
            <a:r>
              <a:rPr lang="zh-CN" altLang="en-US" sz="1800">
                <a:sym typeface="+mn-ea"/>
              </a:rPr>
              <a:t>个维度，正常直接</a:t>
            </a:r>
            <a:r>
              <a:rPr lang="en-US" altLang="zh-CN" sz="1800">
                <a:sym typeface="+mn-ea"/>
              </a:rPr>
              <a:t>qkv</a:t>
            </a:r>
            <a:r>
              <a:rPr lang="zh-CN" altLang="en-US" sz="1800">
                <a:sym typeface="+mn-ea"/>
              </a:rPr>
              <a:t>操作就行，但是这样可能效果不好，所以用多头注意力，（这里用的是</a:t>
            </a:r>
            <a:r>
              <a:rPr lang="en-US" altLang="zh-CN" sz="1800">
                <a:sym typeface="+mn-ea"/>
              </a:rPr>
              <a:t>12</a:t>
            </a:r>
            <a:r>
              <a:rPr lang="zh-CN" altLang="en-US" sz="1800">
                <a:sym typeface="+mn-ea"/>
              </a:rPr>
              <a:t>个）我们可以理解为，就是把</a:t>
            </a:r>
            <a:r>
              <a:rPr lang="en-US" altLang="zh-CN" sz="1800">
                <a:sym typeface="+mn-ea"/>
              </a:rPr>
              <a:t>768</a:t>
            </a:r>
            <a:r>
              <a:rPr lang="zh-CN" altLang="en-US" sz="1800">
                <a:sym typeface="+mn-ea"/>
              </a:rPr>
              <a:t>个维度拆分</a:t>
            </a:r>
            <a:r>
              <a:rPr lang="en-US" altLang="zh-CN" sz="1800">
                <a:sym typeface="+mn-ea"/>
              </a:rPr>
              <a:t>12</a:t>
            </a:r>
            <a:r>
              <a:rPr lang="zh-CN" altLang="en-US" sz="1800">
                <a:sym typeface="+mn-ea"/>
              </a:rPr>
              <a:t>份，每一份是</a:t>
            </a:r>
            <a:r>
              <a:rPr lang="en-US" altLang="zh-CN" sz="1800">
                <a:sym typeface="+mn-ea"/>
              </a:rPr>
              <a:t>64</a:t>
            </a:r>
            <a:r>
              <a:rPr lang="zh-CN" altLang="en-US" sz="1800">
                <a:sym typeface="+mn-ea"/>
              </a:rPr>
              <a:t>，所以这里的</a:t>
            </a:r>
            <a:r>
              <a:rPr lang="en-US" altLang="zh-CN" sz="1800">
                <a:sym typeface="+mn-ea"/>
              </a:rPr>
              <a:t>qkv</a:t>
            </a:r>
            <a:r>
              <a:rPr lang="zh-CN" altLang="en-US" sz="1800">
                <a:sym typeface="+mn-ea"/>
              </a:rPr>
              <a:t>的维度都是</a:t>
            </a:r>
            <a:r>
              <a:rPr lang="en-US" altLang="zh-CN" sz="1800">
                <a:sym typeface="+mn-ea"/>
              </a:rPr>
              <a:t>[197,64]</a:t>
            </a:r>
            <a:r>
              <a:rPr lang="zh-CN" altLang="en-US" sz="1800">
                <a:sym typeface="+mn-ea"/>
              </a:rPr>
              <a:t>，经过</a:t>
            </a:r>
            <a:r>
              <a:rPr lang="en-US" altLang="zh-CN" sz="1800">
                <a:sym typeface="+mn-ea"/>
              </a:rPr>
              <a:t>multi-head attention</a:t>
            </a:r>
            <a:r>
              <a:rPr lang="zh-CN" altLang="en-US" sz="1800">
                <a:sym typeface="+mn-ea"/>
              </a:rPr>
              <a:t>后，再拼接，输出还是</a:t>
            </a:r>
            <a:r>
              <a:rPr lang="en-US" altLang="zh-CN" sz="1800">
                <a:sym typeface="+mn-ea"/>
              </a:rPr>
              <a:t>[197,768]</a:t>
            </a:r>
            <a:r>
              <a:rPr lang="zh-CN" altLang="en-US" sz="1800">
                <a:sym typeface="+mn-ea"/>
              </a:rPr>
              <a:t>，然后进行残差连接，再经过层归一化，再经过</a:t>
            </a:r>
            <a:r>
              <a:rPr lang="en-US" altLang="zh-CN" sz="1800">
                <a:sym typeface="+mn-ea"/>
              </a:rPr>
              <a:t>MLP</a:t>
            </a:r>
            <a:r>
              <a:rPr lang="zh-CN" altLang="en-US" sz="1800">
                <a:sym typeface="+mn-ea"/>
              </a:rPr>
              <a:t>，一般</a:t>
            </a:r>
            <a:r>
              <a:rPr lang="en-US" altLang="zh-CN" sz="1800">
                <a:sym typeface="+mn-ea"/>
              </a:rPr>
              <a:t>MLP</a:t>
            </a:r>
            <a:r>
              <a:rPr lang="zh-CN" altLang="en-US" sz="1800">
                <a:sym typeface="+mn-ea"/>
              </a:rPr>
              <a:t>内部的隐藏层的维度会放大</a:t>
            </a:r>
            <a:r>
              <a:rPr lang="en-US" altLang="zh-CN" sz="1800">
                <a:sym typeface="+mn-ea"/>
              </a:rPr>
              <a:t>4</a:t>
            </a:r>
            <a:r>
              <a:rPr lang="zh-CN" altLang="en-US" sz="1800">
                <a:sym typeface="+mn-ea"/>
              </a:rPr>
              <a:t>倍变成</a:t>
            </a:r>
            <a:r>
              <a:rPr lang="en-US" altLang="zh-CN" sz="1800">
                <a:sym typeface="+mn-ea"/>
              </a:rPr>
              <a:t>[197,3012]</a:t>
            </a:r>
            <a:r>
              <a:rPr lang="zh-CN" altLang="en-US" sz="1800">
                <a:sym typeface="+mn-ea"/>
              </a:rPr>
              <a:t>，然后再缩放回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[197,768]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。因为输入输出都是一样的，所以前面的过程可以重复很多次，这里进行</a:t>
            </a:r>
            <a:r>
              <a:rPr lang="en-US" altLang="zh-CN" sz="1800">
                <a:solidFill>
                  <a:srgbClr val="FF0000"/>
                </a:solidFill>
                <a:sym typeface="+mn-ea"/>
              </a:rPr>
              <a:t>L</a:t>
            </a:r>
            <a:r>
              <a:rPr lang="zh-CN" altLang="en-US" sz="1800">
                <a:solidFill>
                  <a:srgbClr val="FF0000"/>
                </a:solidFill>
                <a:sym typeface="+mn-ea"/>
              </a:rPr>
              <a:t>次。</a:t>
            </a:r>
            <a:endParaRPr lang="zh-CN" altLang="en-US" sz="180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4415" y="1691005"/>
            <a:ext cx="2058670" cy="21291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论文实验的经验之谈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3080" y="2066290"/>
            <a:ext cx="11165205" cy="2915285"/>
          </a:xfrm>
        </p:spPr>
        <p:txBody>
          <a:bodyPr>
            <a:noAutofit/>
          </a:bodyPr>
          <a:p>
            <a:r>
              <a:rPr lang="en-US" altLang="zh-CN"/>
              <a:t>1</a:t>
            </a:r>
            <a:r>
              <a:rPr lang="zh-CN" altLang="en-US"/>
              <a:t>、位置编码用</a:t>
            </a:r>
            <a:r>
              <a:rPr lang="en-US" altLang="zh-CN"/>
              <a:t>1d</a:t>
            </a:r>
            <a:r>
              <a:rPr lang="zh-CN" altLang="en-US"/>
              <a:t>和</a:t>
            </a:r>
            <a:r>
              <a:rPr lang="en-US" altLang="zh-CN"/>
              <a:t>2d</a:t>
            </a:r>
            <a:r>
              <a:rPr lang="zh-CN" altLang="en-US"/>
              <a:t>的效果，或者使用相对位置编码，哪一个更好。</a:t>
            </a:r>
            <a:r>
              <a:rPr lang="zh-CN" altLang="en-US">
                <a:sym typeface="+mn-ea"/>
              </a:rPr>
              <a:t>消融实验表示调参调的好的话，其实无所谓。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、位置编码新增一个</a:t>
            </a:r>
            <a:r>
              <a:rPr lang="en-US" altLang="zh-CN"/>
              <a:t>cls token</a:t>
            </a:r>
            <a:r>
              <a:rPr lang="zh-CN" altLang="en-US"/>
              <a:t>好，还是直接像</a:t>
            </a:r>
            <a:r>
              <a:rPr lang="en-US" altLang="zh-CN"/>
              <a:t>cnn</a:t>
            </a:r>
            <a:r>
              <a:rPr lang="zh-CN" altLang="en-US"/>
              <a:t>的处理那样最后进行全局平均池化，哪一个更好。消融实验表示调参调的好的话，其实无所谓。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584960"/>
            <a:ext cx="10515600" cy="29267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1688</Words>
  <Application>WPS 演示</Application>
  <PresentationFormat>宽屏</PresentationFormat>
  <Paragraphs>44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An image is worth 16*16  words: Transformers for Image Recognition at scale</vt:lpstr>
      <vt:lpstr>论文核心贡献</vt:lpstr>
      <vt:lpstr>论文结论概括版</vt:lpstr>
      <vt:lpstr>模型拆解</vt:lpstr>
      <vt:lpstr>模型拆解</vt:lpstr>
      <vt:lpstr>模型拆解</vt:lpstr>
      <vt:lpstr>论文实验的经验之谈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陈潆潆</dc:creator>
  <cp:lastModifiedBy>陈潆潆</cp:lastModifiedBy>
  <cp:revision>16</cp:revision>
  <dcterms:created xsi:type="dcterms:W3CDTF">2023-08-09T12:44:00Z</dcterms:created>
  <dcterms:modified xsi:type="dcterms:W3CDTF">2026-01-14T07:11:25Z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BB78E6D5DB7644B99B9F7560A2BBFB60_12</vt:lpwstr>
  </property>
</Properties>
</file>