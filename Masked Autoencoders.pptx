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8" r:id="rId4"/>
    <p:sldId id="285" r:id="rId5"/>
    <p:sldId id="262" r:id="rId6"/>
    <p:sldId id="286" r:id="rId7"/>
    <p:sldId id="279" r:id="rId8"/>
    <p:sldId id="280" r:id="rId9"/>
    <p:sldId id="28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0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42010"/>
            <a:ext cx="12219940" cy="2477770"/>
          </a:xfrm>
        </p:spPr>
        <p:txBody>
          <a:bodyPr>
            <a:normAutofit/>
          </a:bodyPr>
          <a:p>
            <a:r>
              <a:rPr lang="en-US" altLang="zh-CN"/>
              <a:t>Masked Autoencoders Are Scalable Vision Learners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40773"/>
            <a:ext cx="9144000" cy="1655762"/>
          </a:xfrm>
        </p:spPr>
        <p:txBody>
          <a:bodyPr/>
          <a:p>
            <a:r>
              <a:rPr lang="en-US" altLang="zh-CN"/>
              <a:t>2026.1.12-1.18</a:t>
            </a:r>
            <a:endParaRPr lang="en-US" altLang="zh-CN"/>
          </a:p>
          <a:p>
            <a:r>
              <a:rPr lang="zh-CN" altLang="en-US"/>
              <a:t>周报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7845" y="4933315"/>
            <a:ext cx="8735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论文原文地址：</a:t>
            </a:r>
            <a:r>
              <a:rPr lang="en-US" altLang="zh-CN"/>
              <a:t>https://arxiv.org/pdf/2111.06377</a:t>
            </a:r>
            <a:endParaRPr lang="en-US" altLang="zh-CN"/>
          </a:p>
          <a:p>
            <a:r>
              <a:rPr lang="zh-CN" altLang="en-US"/>
              <a:t>论文项目</a:t>
            </a:r>
            <a:r>
              <a:rPr lang="en-US" altLang="zh-CN"/>
              <a:t>github</a:t>
            </a:r>
            <a:r>
              <a:rPr lang="zh-CN" altLang="en-US"/>
              <a:t>地址：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60730" y="6073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模型部署笔记代码在个人</a:t>
            </a:r>
            <a:r>
              <a:rPr lang="en-US" altLang="zh-CN"/>
              <a:t>github</a:t>
            </a:r>
            <a:r>
              <a:rPr lang="zh-CN" altLang="en-US"/>
              <a:t>仓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130" y="674370"/>
            <a:ext cx="5422900" cy="304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该论文与其他论文的关系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585" y="3429000"/>
            <a:ext cx="11173460" cy="2284095"/>
          </a:xfrm>
        </p:spPr>
        <p:txBody>
          <a:bodyPr>
            <a:normAutofit fontScale="70000"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transformer</a:t>
            </a:r>
            <a:r>
              <a:rPr lang="zh-CN" altLang="en-US"/>
              <a:t>就是一个基本架构，有编码器和解码器，在机器翻译的性能上面优于</a:t>
            </a:r>
            <a:r>
              <a:rPr lang="en-US" altLang="zh-CN"/>
              <a:t>RNN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BERT</a:t>
            </a:r>
            <a:r>
              <a:rPr lang="zh-CN" altLang="en-US"/>
              <a:t>是基于</a:t>
            </a:r>
            <a:r>
              <a:rPr lang="en-US" altLang="zh-CN"/>
              <a:t>transformer</a:t>
            </a:r>
            <a:r>
              <a:rPr lang="zh-CN" altLang="en-US"/>
              <a:t>，用在</a:t>
            </a:r>
            <a:r>
              <a:rPr lang="en-US" altLang="zh-CN"/>
              <a:t>nlp</a:t>
            </a:r>
            <a:r>
              <a:rPr lang="zh-CN" altLang="en-US"/>
              <a:t>这个任务中，主要的思想就是类似完形填空，挖空某个单词，模型去猜测挖空的某个词，提高模型的特征抽取能力，这种是无监督的方式。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vit</a:t>
            </a:r>
            <a:r>
              <a:rPr lang="zh-CN" altLang="en-US"/>
              <a:t>就是将</a:t>
            </a:r>
            <a:r>
              <a:rPr lang="en-US" altLang="zh-CN"/>
              <a:t>transformer</a:t>
            </a:r>
            <a:r>
              <a:rPr lang="zh-CN" altLang="en-US"/>
              <a:t>用在</a:t>
            </a:r>
            <a:r>
              <a:rPr lang="en-US" altLang="zh-CN"/>
              <a:t>cv</a:t>
            </a:r>
            <a:r>
              <a:rPr lang="zh-CN" altLang="en-US"/>
              <a:t>领域，但是原文其实是有监督的分类模型。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MAE</a:t>
            </a:r>
            <a:r>
              <a:rPr lang="zh-CN" altLang="en-US"/>
              <a:t>就是类比</a:t>
            </a:r>
            <a:r>
              <a:rPr lang="en-US" altLang="zh-CN"/>
              <a:t>BERT</a:t>
            </a:r>
            <a:r>
              <a:rPr lang="zh-CN" altLang="en-US"/>
              <a:t>，将</a:t>
            </a:r>
            <a:r>
              <a:rPr lang="en-US" altLang="zh-CN"/>
              <a:t>VIT</a:t>
            </a:r>
            <a:r>
              <a:rPr lang="zh-CN" altLang="en-US"/>
              <a:t>进行改造，用在</a:t>
            </a:r>
            <a:r>
              <a:rPr lang="en-US" altLang="zh-CN"/>
              <a:t>CV</a:t>
            </a:r>
            <a:r>
              <a:rPr lang="zh-CN" altLang="en-US"/>
              <a:t>领域，是无监督的，通过完形填空解析图片中的特征。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论文核心贡献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410" y="1950085"/>
            <a:ext cx="11141710" cy="2849245"/>
          </a:xfrm>
        </p:spPr>
        <p:txBody>
          <a:bodyPr>
            <a:normAutofit lnSpcReduction="20000"/>
          </a:bodyPr>
          <a:p>
            <a:r>
              <a:rPr lang="en-US" altLang="zh-CN"/>
              <a:t>1</a:t>
            </a:r>
            <a:r>
              <a:rPr lang="zh-CN" altLang="en-US"/>
              <a:t>、模型思想简单，只在</a:t>
            </a:r>
            <a:r>
              <a:rPr lang="en-US" altLang="zh-CN"/>
              <a:t>VIT</a:t>
            </a:r>
            <a:r>
              <a:rPr lang="zh-CN" altLang="en-US"/>
              <a:t>的基础上，引入</a:t>
            </a:r>
            <a:r>
              <a:rPr lang="en-US" altLang="zh-CN"/>
              <a:t>BERT</a:t>
            </a:r>
            <a:r>
              <a:rPr lang="zh-CN" altLang="en-US"/>
              <a:t>的思想，在目标检测、实例分割、语义分割上效果不错；</a:t>
            </a:r>
            <a:endParaRPr lang="zh-CN" altLang="en-US"/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、引入</a:t>
            </a:r>
            <a:r>
              <a:rPr lang="en-US" altLang="zh-CN">
                <a:sym typeface="+mn-ea"/>
              </a:rPr>
              <a:t>masked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cv</a:t>
            </a:r>
            <a:r>
              <a:rPr lang="zh-CN" altLang="en-US">
                <a:sym typeface="+mn-ea"/>
              </a:rPr>
              <a:t>领域，将原始图片遮住绝大部分的像素，迫使模型学习到更多的特征。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、提出了</a:t>
            </a:r>
            <a:r>
              <a:rPr lang="en-US" altLang="zh-CN">
                <a:sym typeface="+mn-ea"/>
              </a:rPr>
              <a:t>cv</a:t>
            </a:r>
            <a:r>
              <a:rPr lang="zh-CN" altLang="en-US">
                <a:sym typeface="+mn-ea"/>
              </a:rPr>
              <a:t>领域的无监督学习的</a:t>
            </a:r>
            <a:r>
              <a:rPr lang="zh-CN" altLang="en-US"/>
              <a:t>模型。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610" y="0"/>
            <a:ext cx="11755755" cy="68789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模型拆解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5325" y="0"/>
            <a:ext cx="5146675" cy="30118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模型拆解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89585" y="3095625"/>
            <a:ext cx="11173460" cy="2284095"/>
          </a:xfrm>
        </p:spPr>
        <p:txBody>
          <a:bodyPr>
            <a:normAutofit fontScale="90000"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输入的图片被分割成若干个小图形块，对</a:t>
            </a:r>
            <a:r>
              <a:rPr lang="en-US" altLang="zh-CN">
                <a:sym typeface="+mn-ea"/>
              </a:rPr>
              <a:t>3/4</a:t>
            </a:r>
            <a:r>
              <a:rPr lang="zh-CN" altLang="en-US">
                <a:sym typeface="+mn-ea"/>
              </a:rPr>
              <a:t>的图形块进行</a:t>
            </a:r>
            <a:r>
              <a:rPr lang="en-US" altLang="zh-CN">
                <a:sym typeface="+mn-ea"/>
              </a:rPr>
              <a:t>mask</a:t>
            </a:r>
            <a:r>
              <a:rPr lang="zh-CN" altLang="en-US">
                <a:sym typeface="+mn-ea"/>
              </a:rPr>
              <a:t>遮盖，只保留</a:t>
            </a:r>
            <a:r>
              <a:rPr lang="en-US" altLang="zh-CN">
                <a:sym typeface="+mn-ea"/>
              </a:rPr>
              <a:t>1/4</a:t>
            </a:r>
            <a:r>
              <a:rPr lang="zh-CN" altLang="en-US">
                <a:sym typeface="+mn-ea"/>
              </a:rPr>
              <a:t>的图形块进入</a:t>
            </a:r>
            <a:r>
              <a:rPr lang="en-US" altLang="zh-CN">
                <a:sym typeface="+mn-ea"/>
              </a:rPr>
              <a:t>encoder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/>
              <a:t>encoder</a:t>
            </a:r>
            <a:r>
              <a:rPr lang="zh-CN" altLang="en-US"/>
              <a:t>是直接搬的</a:t>
            </a:r>
            <a:r>
              <a:rPr lang="en-US" altLang="zh-CN"/>
              <a:t>VIT</a:t>
            </a:r>
            <a:r>
              <a:rPr lang="zh-CN" altLang="en-US"/>
              <a:t>的模型；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、利用</a:t>
            </a:r>
            <a:r>
              <a:rPr lang="en-US" altLang="zh-CN"/>
              <a:t>position encoder</a:t>
            </a:r>
            <a:r>
              <a:rPr lang="zh-CN" altLang="en-US"/>
              <a:t>的信息将</a:t>
            </a:r>
            <a:r>
              <a:rPr lang="en-US" altLang="zh-CN"/>
              <a:t>VIT</a:t>
            </a:r>
            <a:r>
              <a:rPr lang="zh-CN" altLang="en-US"/>
              <a:t>的输出和</a:t>
            </a:r>
            <a:r>
              <a:rPr lang="en-US" altLang="zh-CN"/>
              <a:t>masked</a:t>
            </a:r>
            <a:r>
              <a:rPr lang="zh-CN" altLang="en-US"/>
              <a:t>遮盖组合；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zh-CN"/>
              <a:t>再利用一个解码器预测真实图像的输出。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0"/>
            <a:ext cx="7802880" cy="45580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模型拆解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285" y="4477385"/>
            <a:ext cx="11589385" cy="2082165"/>
          </a:xfrm>
        </p:spPr>
        <p:txBody>
          <a:bodyPr>
            <a:noAutofit/>
          </a:bodyPr>
          <a:p>
            <a:r>
              <a:rPr lang="en-US" altLang="zh-CN" sz="2000"/>
              <a:t>1</a:t>
            </a:r>
            <a:r>
              <a:rPr lang="zh-CN" altLang="en-US" sz="2000"/>
              <a:t>、</a:t>
            </a:r>
            <a:r>
              <a:rPr lang="en-US" altLang="zh-CN" sz="2000"/>
              <a:t>patch embedding</a:t>
            </a:r>
            <a:r>
              <a:rPr lang="zh-CN" altLang="en-US" sz="2000"/>
              <a:t>：输入图像为</a:t>
            </a:r>
            <a:r>
              <a:rPr lang="en-US" altLang="zh-CN" sz="2000">
                <a:solidFill>
                  <a:srgbClr val="FF0000"/>
                </a:solidFill>
              </a:rPr>
              <a:t>[3,224,224]</a:t>
            </a:r>
            <a:r>
              <a:rPr lang="zh-CN" altLang="en-US" sz="2000"/>
              <a:t>，</a:t>
            </a:r>
            <a:r>
              <a:rPr lang="en-US" altLang="zh-CN" sz="2000"/>
              <a:t>3</a:t>
            </a:r>
            <a:r>
              <a:rPr lang="zh-CN" altLang="en-US" sz="2000"/>
              <a:t>代表通道，</a:t>
            </a:r>
            <a:r>
              <a:rPr lang="en-US" altLang="zh-CN" sz="2000"/>
              <a:t>H,W</a:t>
            </a:r>
            <a:r>
              <a:rPr lang="zh-CN" altLang="en-US" sz="2000"/>
              <a:t>，然后按照</a:t>
            </a:r>
            <a:r>
              <a:rPr lang="en-US" altLang="zh-CN" sz="2000"/>
              <a:t>16*16</a:t>
            </a:r>
            <a:r>
              <a:rPr lang="zh-CN" altLang="en-US" sz="2000"/>
              <a:t>大小，将原始的图片进行分割，一共会分割出</a:t>
            </a:r>
            <a:r>
              <a:rPr lang="en-US" altLang="zh-CN" sz="2000"/>
              <a:t>14*14=196</a:t>
            </a:r>
            <a:r>
              <a:rPr lang="zh-CN" altLang="en-US" sz="2000"/>
              <a:t>个小的图像块，这里的每一个图像块，看成</a:t>
            </a:r>
            <a:r>
              <a:rPr lang="en-US" altLang="zh-CN" sz="2000"/>
              <a:t>nlp</a:t>
            </a:r>
            <a:r>
              <a:rPr lang="zh-CN" altLang="en-US" sz="2000"/>
              <a:t>中的</a:t>
            </a:r>
            <a:r>
              <a:rPr lang="en-US" altLang="zh-CN" sz="2000"/>
              <a:t>token</a:t>
            </a:r>
            <a:r>
              <a:rPr lang="zh-CN" altLang="en-US" sz="2000"/>
              <a:t>。相当于一张图片被改成了具有</a:t>
            </a:r>
            <a:r>
              <a:rPr lang="en-US" altLang="zh-CN" sz="2000"/>
              <a:t>196</a:t>
            </a:r>
            <a:r>
              <a:rPr lang="zh-CN" altLang="en-US" sz="2000"/>
              <a:t>个</a:t>
            </a:r>
            <a:r>
              <a:rPr lang="en-US" altLang="zh-CN" sz="2000"/>
              <a:t>token</a:t>
            </a:r>
            <a:r>
              <a:rPr lang="zh-CN" altLang="en-US" sz="2000"/>
              <a:t>，每个</a:t>
            </a:r>
            <a:r>
              <a:rPr lang="en-US" altLang="zh-CN" sz="2000"/>
              <a:t>token</a:t>
            </a:r>
            <a:r>
              <a:rPr lang="zh-CN" altLang="en-US" sz="2000"/>
              <a:t>的维度是</a:t>
            </a:r>
            <a:r>
              <a:rPr lang="en-US" altLang="zh-CN" sz="2000"/>
              <a:t>16*16*=768</a:t>
            </a:r>
            <a:r>
              <a:rPr lang="zh-CN" altLang="en-US" sz="2000"/>
              <a:t>维。在这一步输出为</a:t>
            </a:r>
            <a:r>
              <a:rPr lang="en-US" altLang="zh-CN" sz="2000">
                <a:solidFill>
                  <a:srgbClr val="FF0000"/>
                </a:solidFill>
              </a:rPr>
              <a:t>[196*768]</a:t>
            </a:r>
            <a:r>
              <a:rPr lang="zh-CN" altLang="en-US" sz="2000">
                <a:solidFill>
                  <a:srgbClr val="FF0000"/>
                </a:solidFill>
              </a:rPr>
              <a:t>。</a:t>
            </a:r>
            <a:endParaRPr lang="en-US" altLang="zh-CN" sz="2000">
              <a:solidFill>
                <a:srgbClr val="FF0000"/>
              </a:solidFill>
            </a:endParaRPr>
          </a:p>
          <a:p>
            <a:r>
              <a:rPr lang="en-US" altLang="zh-CN" sz="2000"/>
              <a:t>2</a:t>
            </a:r>
            <a:r>
              <a:rPr lang="zh-CN" altLang="en-US" sz="2000"/>
              <a:t>、线性投影层：（就是全连接层），这个全连接层是可学习的，维度为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[768*768]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，这两个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有所不同，前一个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是图像固定处理之后就是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，但是后一个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可以随着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transformer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的大小进行变化，如果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transformer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架构大一点的话，那么全连接层可以变成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[768,1024]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，这样每个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token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的维度就会增大。其实前一个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也是可以变动的，因为前一个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是因为我们选择的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patch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为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16*16,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735" y="0"/>
            <a:ext cx="6964680" cy="40684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模型拆解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6215" y="4258945"/>
            <a:ext cx="11589385" cy="2082165"/>
          </a:xfrm>
        </p:spPr>
        <p:txBody>
          <a:bodyPr>
            <a:noAutofit/>
          </a:bodyPr>
          <a:p>
            <a:r>
              <a:rPr lang="en-US" altLang="zh-CN" sz="1800"/>
              <a:t>3</a:t>
            </a:r>
            <a:r>
              <a:rPr lang="zh-CN" altLang="en-US" sz="1800"/>
              <a:t>、</a:t>
            </a:r>
            <a:r>
              <a:rPr lang="en-US" altLang="zh-CN" sz="1800"/>
              <a:t>position embedding</a:t>
            </a:r>
            <a:r>
              <a:rPr lang="zh-CN" altLang="en-US" sz="1800"/>
              <a:t>：这个位置编码是可学习的并且用的是和</a:t>
            </a:r>
            <a:r>
              <a:rPr lang="en-US" altLang="zh-CN" sz="1800"/>
              <a:t>bert</a:t>
            </a:r>
            <a:r>
              <a:rPr lang="zh-CN" altLang="en-US" sz="1800"/>
              <a:t>中一样的</a:t>
            </a:r>
            <a:r>
              <a:rPr lang="en-US" altLang="zh-CN" sz="1800"/>
              <a:t>[1</a:t>
            </a:r>
            <a:r>
              <a:rPr lang="zh-CN" altLang="en-US" sz="1800"/>
              <a:t>，</a:t>
            </a:r>
            <a:r>
              <a:rPr lang="en-US" altLang="zh-CN" sz="1800"/>
              <a:t>768]</a:t>
            </a:r>
            <a:r>
              <a:rPr lang="zh-CN" altLang="en-US" sz="1800"/>
              <a:t>，</a:t>
            </a:r>
            <a:r>
              <a:rPr lang="zh-CN" altLang="en-US" sz="1800">
                <a:sym typeface="+mn-ea"/>
              </a:rPr>
              <a:t>在位置编码后，由于我们最终输出的是分类任务，所以这里额外引入了一个新的</a:t>
            </a:r>
            <a:r>
              <a:rPr lang="en-US" altLang="zh-CN" sz="1800">
                <a:sym typeface="+mn-ea"/>
              </a:rPr>
              <a:t>token</a:t>
            </a:r>
            <a:r>
              <a:rPr lang="zh-CN" altLang="en-US" sz="1800">
                <a:sym typeface="+mn-ea"/>
              </a:rPr>
              <a:t>，这个</a:t>
            </a:r>
            <a:r>
              <a:rPr lang="en-US" altLang="zh-CN" sz="1800">
                <a:sym typeface="+mn-ea"/>
              </a:rPr>
              <a:t>token</a:t>
            </a:r>
            <a:r>
              <a:rPr lang="zh-CN" altLang="en-US" sz="1800">
                <a:sym typeface="+mn-ea"/>
              </a:rPr>
              <a:t>又叫做</a:t>
            </a:r>
            <a:r>
              <a:rPr lang="en-US" altLang="zh-CN" sz="1800">
                <a:sym typeface="+mn-ea"/>
              </a:rPr>
              <a:t>cls token</a:t>
            </a:r>
            <a:r>
              <a:rPr lang="zh-CN" altLang="en-US" sz="1800">
                <a:sym typeface="+mn-ea"/>
              </a:rPr>
              <a:t>，这样代表最后让进入</a:t>
            </a:r>
            <a:r>
              <a:rPr lang="en-US" altLang="zh-CN" sz="1800">
                <a:sym typeface="+mn-ea"/>
              </a:rPr>
              <a:t>transformer encoder</a:t>
            </a:r>
            <a:r>
              <a:rPr lang="zh-CN" altLang="en-US" sz="1800">
                <a:sym typeface="+mn-ea"/>
              </a:rPr>
              <a:t>这个的输入是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[197,768]</a:t>
            </a:r>
            <a:r>
              <a:rPr lang="zh-CN" altLang="en-US" sz="1800">
                <a:sym typeface="+mn-ea"/>
              </a:rPr>
              <a:t>。</a:t>
            </a:r>
            <a:endParaRPr lang="zh-CN" altLang="en-US" sz="1800"/>
          </a:p>
          <a:p>
            <a:r>
              <a:rPr lang="en-US" altLang="zh-CN" sz="1800"/>
              <a:t>4</a:t>
            </a:r>
            <a:r>
              <a:rPr lang="zh-CN" altLang="en-US" sz="1800"/>
              <a:t>、</a:t>
            </a:r>
            <a:r>
              <a:rPr lang="en-US" altLang="zh-CN" sz="1800"/>
              <a:t>transformer encoder</a:t>
            </a:r>
            <a:r>
              <a:rPr lang="zh-CN" altLang="en-US" sz="1800"/>
              <a:t>：</a:t>
            </a:r>
            <a:r>
              <a:rPr lang="en-US" altLang="zh-CN" sz="1800"/>
              <a:t>1</a:t>
            </a:r>
            <a:r>
              <a:rPr lang="zh-CN" altLang="en-US" sz="1800"/>
              <a:t>个</a:t>
            </a:r>
            <a:r>
              <a:rPr lang="en-US" altLang="zh-CN" sz="1800"/>
              <a:t>token</a:t>
            </a:r>
            <a:r>
              <a:rPr lang="zh-CN" altLang="en-US" sz="1800"/>
              <a:t>的向量维度是</a:t>
            </a:r>
            <a:r>
              <a:rPr lang="en-US" altLang="zh-CN" sz="1800">
                <a:sym typeface="+mn-ea"/>
              </a:rPr>
              <a:t>768</a:t>
            </a:r>
            <a:r>
              <a:rPr lang="zh-CN" altLang="en-US" sz="1800">
                <a:sym typeface="+mn-ea"/>
              </a:rPr>
              <a:t>，自注意力就是自己关注自己身上的一些信息，对于每个</a:t>
            </a:r>
            <a:r>
              <a:rPr lang="en-US" altLang="zh-CN" sz="1800">
                <a:sym typeface="+mn-ea"/>
              </a:rPr>
              <a:t>token</a:t>
            </a:r>
            <a:r>
              <a:rPr lang="zh-CN" altLang="en-US" sz="1800">
                <a:sym typeface="+mn-ea"/>
              </a:rPr>
              <a:t>来说，有</a:t>
            </a:r>
            <a:r>
              <a:rPr lang="en-US" altLang="zh-CN" sz="1800">
                <a:sym typeface="+mn-ea"/>
              </a:rPr>
              <a:t>768</a:t>
            </a:r>
            <a:r>
              <a:rPr lang="zh-CN" altLang="en-US" sz="1800">
                <a:sym typeface="+mn-ea"/>
              </a:rPr>
              <a:t>个维度，正常直接</a:t>
            </a:r>
            <a:r>
              <a:rPr lang="en-US" altLang="zh-CN" sz="1800">
                <a:sym typeface="+mn-ea"/>
              </a:rPr>
              <a:t>qkv</a:t>
            </a:r>
            <a:r>
              <a:rPr lang="zh-CN" altLang="en-US" sz="1800">
                <a:sym typeface="+mn-ea"/>
              </a:rPr>
              <a:t>操作就行，但是这样可能效果不好，所以用多头注意力，（这里用的是</a:t>
            </a:r>
            <a:r>
              <a:rPr lang="en-US" altLang="zh-CN" sz="1800">
                <a:sym typeface="+mn-ea"/>
              </a:rPr>
              <a:t>12</a:t>
            </a:r>
            <a:r>
              <a:rPr lang="zh-CN" altLang="en-US" sz="1800">
                <a:sym typeface="+mn-ea"/>
              </a:rPr>
              <a:t>个）我们可以理解为，就是把</a:t>
            </a:r>
            <a:r>
              <a:rPr lang="en-US" altLang="zh-CN" sz="1800">
                <a:sym typeface="+mn-ea"/>
              </a:rPr>
              <a:t>768</a:t>
            </a:r>
            <a:r>
              <a:rPr lang="zh-CN" altLang="en-US" sz="1800">
                <a:sym typeface="+mn-ea"/>
              </a:rPr>
              <a:t>个维度拆分</a:t>
            </a:r>
            <a:r>
              <a:rPr lang="en-US" altLang="zh-CN" sz="1800">
                <a:sym typeface="+mn-ea"/>
              </a:rPr>
              <a:t>12</a:t>
            </a:r>
            <a:r>
              <a:rPr lang="zh-CN" altLang="en-US" sz="1800">
                <a:sym typeface="+mn-ea"/>
              </a:rPr>
              <a:t>份，每一份是</a:t>
            </a:r>
            <a:r>
              <a:rPr lang="en-US" altLang="zh-CN" sz="1800">
                <a:sym typeface="+mn-ea"/>
              </a:rPr>
              <a:t>64</a:t>
            </a:r>
            <a:r>
              <a:rPr lang="zh-CN" altLang="en-US" sz="1800">
                <a:sym typeface="+mn-ea"/>
              </a:rPr>
              <a:t>，所以这里的</a:t>
            </a:r>
            <a:r>
              <a:rPr lang="en-US" altLang="zh-CN" sz="1800">
                <a:sym typeface="+mn-ea"/>
              </a:rPr>
              <a:t>qkv</a:t>
            </a:r>
            <a:r>
              <a:rPr lang="zh-CN" altLang="en-US" sz="1800">
                <a:sym typeface="+mn-ea"/>
              </a:rPr>
              <a:t>的维度都是</a:t>
            </a:r>
            <a:r>
              <a:rPr lang="en-US" altLang="zh-CN" sz="1800">
                <a:sym typeface="+mn-ea"/>
              </a:rPr>
              <a:t>[197,64]</a:t>
            </a:r>
            <a:r>
              <a:rPr lang="zh-CN" altLang="en-US" sz="1800">
                <a:sym typeface="+mn-ea"/>
              </a:rPr>
              <a:t>，经过</a:t>
            </a:r>
            <a:r>
              <a:rPr lang="en-US" altLang="zh-CN" sz="1800">
                <a:sym typeface="+mn-ea"/>
              </a:rPr>
              <a:t>multi-head attention</a:t>
            </a:r>
            <a:r>
              <a:rPr lang="zh-CN" altLang="en-US" sz="1800">
                <a:sym typeface="+mn-ea"/>
              </a:rPr>
              <a:t>后，再拼接，输出还是</a:t>
            </a:r>
            <a:r>
              <a:rPr lang="en-US" altLang="zh-CN" sz="1800">
                <a:sym typeface="+mn-ea"/>
              </a:rPr>
              <a:t>[197,768]</a:t>
            </a:r>
            <a:r>
              <a:rPr lang="zh-CN" altLang="en-US" sz="1800">
                <a:sym typeface="+mn-ea"/>
              </a:rPr>
              <a:t>，然后进行残差连接，再经过层归一化，再经过</a:t>
            </a:r>
            <a:r>
              <a:rPr lang="en-US" altLang="zh-CN" sz="1800">
                <a:sym typeface="+mn-ea"/>
              </a:rPr>
              <a:t>MLP</a:t>
            </a:r>
            <a:r>
              <a:rPr lang="zh-CN" altLang="en-US" sz="1800">
                <a:sym typeface="+mn-ea"/>
              </a:rPr>
              <a:t>，一般</a:t>
            </a:r>
            <a:r>
              <a:rPr lang="en-US" altLang="zh-CN" sz="1800">
                <a:sym typeface="+mn-ea"/>
              </a:rPr>
              <a:t>MLP</a:t>
            </a:r>
            <a:r>
              <a:rPr lang="zh-CN" altLang="en-US" sz="1800">
                <a:sym typeface="+mn-ea"/>
              </a:rPr>
              <a:t>内部的隐藏层的维度会放大</a:t>
            </a:r>
            <a:r>
              <a:rPr lang="en-US" altLang="zh-CN" sz="1800">
                <a:sym typeface="+mn-ea"/>
              </a:rPr>
              <a:t>4</a:t>
            </a:r>
            <a:r>
              <a:rPr lang="zh-CN" altLang="en-US" sz="1800">
                <a:sym typeface="+mn-ea"/>
              </a:rPr>
              <a:t>倍变成</a:t>
            </a:r>
            <a:r>
              <a:rPr lang="en-US" altLang="zh-CN" sz="1800">
                <a:sym typeface="+mn-ea"/>
              </a:rPr>
              <a:t>[197,3012]</a:t>
            </a:r>
            <a:r>
              <a:rPr lang="zh-CN" altLang="en-US" sz="1800">
                <a:sym typeface="+mn-ea"/>
              </a:rPr>
              <a:t>，然后再缩放回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[197,768]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。因为输入输出都是一样的，所以前面的过程可以重复很多次，这里进行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L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次。</a:t>
            </a:r>
            <a:endParaRPr lang="zh-CN" altLang="en-US" sz="18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415" y="1691005"/>
            <a:ext cx="2058670" cy="21291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84960"/>
            <a:ext cx="10515600" cy="29267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WPS 演示</Application>
  <PresentationFormat>宽屏</PresentationFormat>
  <Paragraphs>43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Masked Autoencoders Are Scalable Vision Learners</vt:lpstr>
      <vt:lpstr>该论文与其他论文的关系</vt:lpstr>
      <vt:lpstr>论文核心贡献</vt:lpstr>
      <vt:lpstr>模型拆解</vt:lpstr>
      <vt:lpstr>模型拆解</vt:lpstr>
      <vt:lpstr>模型拆解</vt:lpstr>
      <vt:lpstr>模型拆解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陈潆潆</dc:creator>
  <cp:lastModifiedBy>陈潆潆</cp:lastModifiedBy>
  <cp:revision>18</cp:revision>
  <dcterms:created xsi:type="dcterms:W3CDTF">2023-08-09T12:44:00Z</dcterms:created>
  <dcterms:modified xsi:type="dcterms:W3CDTF">2026-01-19T01:12:34Z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BB78E6D5DB7644B99B9F7560A2BBFB60_12</vt:lpwstr>
  </property>
</Properties>
</file>